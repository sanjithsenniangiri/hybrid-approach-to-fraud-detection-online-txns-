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Robo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slide" Target="slides/slide20.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195a70377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195a70377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195a703770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195a703770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195a703770_6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195a703770_6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195a70377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195a70377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195a70377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195a70377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195a703770_6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195a703770_6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195a703770_4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195a703770_4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195a703770_4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195a703770_4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195a703770_4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195a703770_4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195a703770_4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195a703770_4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195a703770_4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195a703770_4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95a703770_4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195a703770_4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195a703770_6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195a703770_6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195a703770_6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195a703770_6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195a703770_6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195a703770_6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195a703770_6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195a703770_6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195a703770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195a703770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195a703770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195a703770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195a703770_6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195a703770_6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18.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jpg"/><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jpg"/><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jpg"/><Relationship Id="rId4"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jpg"/><Relationship Id="rId4" Type="http://schemas.openxmlformats.org/officeDocument/2006/relationships/image" Target="../media/image1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0"/>
            <a:ext cx="8520600" cy="20526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0"/>
              </a:spcAft>
              <a:buClr>
                <a:schemeClr val="dk1"/>
              </a:buClr>
              <a:buSzPts val="1100"/>
              <a:buFont typeface="Arial"/>
              <a:buNone/>
            </a:pPr>
            <a:r>
              <a:rPr b="1" lang="en" sz="2900"/>
              <a:t>A Hybrid Approach for Fraud Detection in Online Transactions</a:t>
            </a:r>
            <a:endParaRPr b="1" sz="3100"/>
          </a:p>
          <a:p>
            <a:pPr indent="0" lvl="0" marL="0" rtl="0" algn="ctr">
              <a:spcBef>
                <a:spcPts val="0"/>
              </a:spcBef>
              <a:spcAft>
                <a:spcPts val="0"/>
              </a:spcAft>
              <a:buNone/>
            </a:pPr>
            <a:r>
              <a:t/>
            </a:r>
            <a:endParaRPr/>
          </a:p>
        </p:txBody>
      </p:sp>
      <p:sp>
        <p:nvSpPr>
          <p:cNvPr id="55" name="Google Shape;55;p13"/>
          <p:cNvSpPr txBox="1"/>
          <p:nvPr>
            <p:ph idx="1" type="subTitle"/>
          </p:nvPr>
        </p:nvSpPr>
        <p:spPr>
          <a:xfrm>
            <a:off x="0" y="2891875"/>
            <a:ext cx="3019800" cy="21426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en" sz="1400">
                <a:solidFill>
                  <a:schemeClr val="dk1"/>
                </a:solidFill>
              </a:rPr>
              <a:t>Group Members </a:t>
            </a:r>
            <a:endParaRPr b="1" sz="1400">
              <a:solidFill>
                <a:schemeClr val="dk1"/>
              </a:solidFill>
            </a:endParaRPr>
          </a:p>
          <a:p>
            <a:pPr indent="0" lvl="0" marL="0" rtl="0" algn="l">
              <a:spcBef>
                <a:spcPts val="0"/>
              </a:spcBef>
              <a:spcAft>
                <a:spcPts val="0"/>
              </a:spcAft>
              <a:buNone/>
            </a:pPr>
            <a:r>
              <a:t/>
            </a:r>
            <a:endParaRPr sz="11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Sanjith Senniangiri,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Muraliprasath Ponnuswamy,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Radhika Jitendrakumar Pareek,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Manali Kishor Gawande,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Xiaoou Liu</a:t>
            </a:r>
            <a:br>
              <a:rPr lang="en" sz="1200">
                <a:solidFill>
                  <a:schemeClr val="dk1"/>
                </a:solidFill>
              </a:rPr>
            </a:br>
            <a:endParaRPr sz="1200">
              <a:solidFill>
                <a:schemeClr val="dk1"/>
              </a:solidFill>
            </a:endParaRPr>
          </a:p>
          <a:p>
            <a:pPr indent="0" lvl="0" marL="0" rtl="0" algn="ctr">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2699975" y="1406400"/>
            <a:ext cx="5814976" cy="36279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en" sz="2900">
                <a:solidFill>
                  <a:srgbClr val="2D3B45"/>
                </a:solidFill>
              </a:rPr>
              <a:t>Problem justification</a:t>
            </a:r>
            <a:endParaRPr b="1" sz="2900">
              <a:solidFill>
                <a:srgbClr val="2D3B45"/>
              </a:solidFill>
            </a:endParaRPr>
          </a:p>
          <a:p>
            <a:pPr indent="0" lvl="0" marL="0" rtl="0" algn="l">
              <a:spcBef>
                <a:spcPts val="0"/>
              </a:spcBef>
              <a:spcAft>
                <a:spcPts val="0"/>
              </a:spcAft>
              <a:buNone/>
            </a:pPr>
            <a:r>
              <a:t/>
            </a:r>
            <a:endParaRPr/>
          </a:p>
        </p:txBody>
      </p:sp>
      <p:sp>
        <p:nvSpPr>
          <p:cNvPr id="62" name="Google Shape;62;p14"/>
          <p:cNvSpPr txBox="1"/>
          <p:nvPr>
            <p:ph idx="1" type="body"/>
          </p:nvPr>
        </p:nvSpPr>
        <p:spPr>
          <a:xfrm>
            <a:off x="311700" y="652200"/>
            <a:ext cx="8520600" cy="3416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250">
                <a:solidFill>
                  <a:schemeClr val="dk1"/>
                </a:solidFill>
              </a:rPr>
              <a:t>Online transactions are increasing, but fraud detection is challenging due to:</a:t>
            </a:r>
            <a:endParaRPr sz="1250">
              <a:solidFill>
                <a:schemeClr val="dk1"/>
              </a:solidFill>
            </a:endParaRPr>
          </a:p>
          <a:p>
            <a:pPr indent="-307975" lvl="0" marL="457200" rtl="0" algn="l">
              <a:spcBef>
                <a:spcPts val="1200"/>
              </a:spcBef>
              <a:spcAft>
                <a:spcPts val="0"/>
              </a:spcAft>
              <a:buClr>
                <a:schemeClr val="dk1"/>
              </a:buClr>
              <a:buSzPts val="1250"/>
              <a:buChar char="●"/>
            </a:pPr>
            <a:r>
              <a:rPr lang="en" sz="1250">
                <a:solidFill>
                  <a:schemeClr val="dk1"/>
                </a:solidFill>
              </a:rPr>
              <a:t>Rarity of fraudulent transactions (severe class imbalance).</a:t>
            </a:r>
            <a:endParaRPr sz="1250">
              <a:solidFill>
                <a:schemeClr val="dk1"/>
              </a:solidFill>
            </a:endParaRPr>
          </a:p>
          <a:p>
            <a:pPr indent="-307975" lvl="0" marL="457200" rtl="0" algn="l">
              <a:spcBef>
                <a:spcPts val="0"/>
              </a:spcBef>
              <a:spcAft>
                <a:spcPts val="0"/>
              </a:spcAft>
              <a:buClr>
                <a:schemeClr val="dk1"/>
              </a:buClr>
              <a:buSzPts val="1250"/>
              <a:buChar char="●"/>
            </a:pPr>
            <a:r>
              <a:rPr lang="en" sz="1250">
                <a:solidFill>
                  <a:schemeClr val="dk1"/>
                </a:solidFill>
              </a:rPr>
              <a:t>High-dimensional data (transaction, demographic, and device information).</a:t>
            </a:r>
            <a:endParaRPr sz="1250">
              <a:solidFill>
                <a:schemeClr val="dk1"/>
              </a:solidFill>
            </a:endParaRPr>
          </a:p>
          <a:p>
            <a:pPr indent="0" lvl="0" marL="0" rtl="0" algn="l">
              <a:spcBef>
                <a:spcPts val="1200"/>
              </a:spcBef>
              <a:spcAft>
                <a:spcPts val="0"/>
              </a:spcAft>
              <a:buClr>
                <a:schemeClr val="dk1"/>
              </a:buClr>
              <a:buSzPts val="1100"/>
              <a:buFont typeface="Arial"/>
              <a:buNone/>
            </a:pPr>
            <a:r>
              <a:rPr lang="en" sz="1250">
                <a:solidFill>
                  <a:schemeClr val="dk1"/>
                </a:solidFill>
              </a:rPr>
              <a:t>Conventional methods often favor the majority (non-fraud) class.</a:t>
            </a:r>
            <a:endParaRPr sz="1250">
              <a:solidFill>
                <a:schemeClr val="dk1"/>
              </a:solidFill>
            </a:endParaRPr>
          </a:p>
          <a:p>
            <a:pPr indent="0" lvl="0" marL="0" rtl="0" algn="l">
              <a:spcBef>
                <a:spcPts val="0"/>
              </a:spcBef>
              <a:spcAft>
                <a:spcPts val="0"/>
              </a:spcAft>
              <a:buClr>
                <a:schemeClr val="dk1"/>
              </a:buClr>
              <a:buSzPts val="1100"/>
              <a:buFont typeface="Arial"/>
              <a:buNone/>
            </a:pPr>
            <a:r>
              <a:t/>
            </a:r>
            <a:endParaRPr sz="1250">
              <a:solidFill>
                <a:schemeClr val="dk1"/>
              </a:solidFill>
            </a:endParaRPr>
          </a:p>
          <a:p>
            <a:pPr indent="0" lvl="0" marL="0" rtl="0" algn="just">
              <a:spcBef>
                <a:spcPts val="0"/>
              </a:spcBef>
              <a:spcAft>
                <a:spcPts val="0"/>
              </a:spcAft>
              <a:buClr>
                <a:schemeClr val="dk1"/>
              </a:buClr>
              <a:buSzPts val="1100"/>
              <a:buFont typeface="Arial"/>
              <a:buNone/>
            </a:pPr>
            <a:r>
              <a:rPr lang="en" sz="1250">
                <a:solidFill>
                  <a:schemeClr val="dk1"/>
                </a:solidFill>
              </a:rPr>
              <a:t>The project focuses on training machine learning models to differentiate between fraudulent and non-fraudulent transactions by using a hybrid approach of combining both supervised (classifiers) and unsupervised learning (anomaly detection algorithms) </a:t>
            </a:r>
            <a:endParaRPr sz="1250">
              <a:solidFill>
                <a:schemeClr val="dk1"/>
              </a:solidFill>
            </a:endParaRPr>
          </a:p>
          <a:p>
            <a:pPr indent="0" lvl="0" marL="0" rtl="0" algn="just">
              <a:spcBef>
                <a:spcPts val="0"/>
              </a:spcBef>
              <a:spcAft>
                <a:spcPts val="0"/>
              </a:spcAft>
              <a:buClr>
                <a:schemeClr val="dk1"/>
              </a:buClr>
              <a:buSzPts val="1100"/>
              <a:buFont typeface="Arial"/>
              <a:buNone/>
            </a:pPr>
            <a:r>
              <a:t/>
            </a:r>
            <a:endParaRPr sz="1250">
              <a:solidFill>
                <a:schemeClr val="dk1"/>
              </a:solidFill>
            </a:endParaRPr>
          </a:p>
          <a:p>
            <a:pPr indent="0" lvl="0" marL="0" rtl="0" algn="l">
              <a:spcBef>
                <a:spcPts val="0"/>
              </a:spcBef>
              <a:spcAft>
                <a:spcPts val="0"/>
              </a:spcAft>
              <a:buClr>
                <a:schemeClr val="dk1"/>
              </a:buClr>
              <a:buSzPts val="1100"/>
              <a:buFont typeface="Arial"/>
              <a:buNone/>
            </a:pPr>
            <a:r>
              <a:t/>
            </a:r>
            <a:endParaRPr sz="1250">
              <a:solidFill>
                <a:schemeClr val="dk1"/>
              </a:solidFill>
            </a:endParaRPr>
          </a:p>
          <a:p>
            <a:pPr indent="0" lvl="0" marL="0" rtl="0" algn="l">
              <a:spcBef>
                <a:spcPts val="0"/>
              </a:spcBef>
              <a:spcAft>
                <a:spcPts val="0"/>
              </a:spcAft>
              <a:buNone/>
            </a:pPr>
            <a:r>
              <a:t/>
            </a:r>
            <a:endParaRPr sz="1100"/>
          </a:p>
        </p:txBody>
      </p:sp>
      <p:pic>
        <p:nvPicPr>
          <p:cNvPr id="63" name="Google Shape;63;p14"/>
          <p:cNvPicPr preferRelativeResize="0"/>
          <p:nvPr/>
        </p:nvPicPr>
        <p:blipFill>
          <a:blip r:embed="rId3">
            <a:alphaModFix/>
          </a:blip>
          <a:stretch>
            <a:fillRect/>
          </a:stretch>
        </p:blipFill>
        <p:spPr>
          <a:xfrm>
            <a:off x="6174800" y="746725"/>
            <a:ext cx="2884326" cy="1570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0"/>
            <a:ext cx="8520600" cy="1067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900">
                <a:solidFill>
                  <a:srgbClr val="2D3B45"/>
                </a:solidFill>
                <a:highlight>
                  <a:srgbClr val="FFFFFF"/>
                </a:highlight>
                <a:latin typeface="Roboto"/>
                <a:ea typeface="Roboto"/>
                <a:cs typeface="Roboto"/>
                <a:sym typeface="Roboto"/>
              </a:rPr>
              <a:t>Summary of strengths of prior work related to the proposed problem</a:t>
            </a:r>
            <a:endParaRPr sz="2900"/>
          </a:p>
        </p:txBody>
      </p:sp>
      <p:sp>
        <p:nvSpPr>
          <p:cNvPr id="69" name="Google Shape;69;p15"/>
          <p:cNvSpPr txBox="1"/>
          <p:nvPr>
            <p:ph idx="1" type="body"/>
          </p:nvPr>
        </p:nvSpPr>
        <p:spPr>
          <a:xfrm>
            <a:off x="45700" y="871300"/>
            <a:ext cx="8520600" cy="4494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SzPts val="770"/>
              <a:buNone/>
            </a:pPr>
            <a:r>
              <a:t/>
            </a:r>
            <a:endParaRPr b="1" sz="1050">
              <a:solidFill>
                <a:schemeClr val="dk1"/>
              </a:solidFill>
            </a:endParaRPr>
          </a:p>
          <a:p>
            <a:pPr indent="-307975" lvl="0" marL="457200" rtl="0" algn="l">
              <a:spcBef>
                <a:spcPts val="1200"/>
              </a:spcBef>
              <a:spcAft>
                <a:spcPts val="0"/>
              </a:spcAft>
              <a:buClr>
                <a:schemeClr val="dk1"/>
              </a:buClr>
              <a:buSzPts val="1250"/>
              <a:buAutoNum type="arabicPeriod"/>
            </a:pPr>
            <a:r>
              <a:rPr b="1" lang="en" sz="1250">
                <a:solidFill>
                  <a:schemeClr val="dk1"/>
                </a:solidFill>
              </a:rPr>
              <a:t>Exploration of Traditional and Advanced Techniques</a:t>
            </a:r>
            <a:r>
              <a:rPr lang="en" sz="1250">
                <a:solidFill>
                  <a:schemeClr val="dk1"/>
                </a:solidFill>
              </a:rPr>
              <a:t>:</a:t>
            </a:r>
            <a:endParaRPr sz="1250">
              <a:solidFill>
                <a:schemeClr val="dk1"/>
              </a:solidFill>
            </a:endParaRPr>
          </a:p>
          <a:p>
            <a:pPr indent="-307975" lvl="1" marL="914400" rtl="0" algn="l">
              <a:spcBef>
                <a:spcPts val="0"/>
              </a:spcBef>
              <a:spcAft>
                <a:spcPts val="0"/>
              </a:spcAft>
              <a:buClr>
                <a:schemeClr val="dk1"/>
              </a:buClr>
              <a:buSzPts val="1250"/>
              <a:buChar char="○"/>
            </a:pPr>
            <a:r>
              <a:rPr lang="en" sz="1250">
                <a:solidFill>
                  <a:schemeClr val="dk1"/>
                </a:solidFill>
              </a:rPr>
              <a:t>Previous studies have thoroughly evaluated classical models such as </a:t>
            </a:r>
            <a:r>
              <a:rPr b="1" lang="en" sz="1250">
                <a:solidFill>
                  <a:schemeClr val="dk1"/>
                </a:solidFill>
              </a:rPr>
              <a:t>Naive Bayes, SVM, and Random Forest</a:t>
            </a:r>
            <a:r>
              <a:rPr lang="en" sz="1250">
                <a:solidFill>
                  <a:schemeClr val="dk1"/>
                </a:solidFill>
              </a:rPr>
              <a:t>, demonstrating strong performance under specific scenarios​.</a:t>
            </a:r>
            <a:endParaRPr sz="1250">
              <a:solidFill>
                <a:schemeClr val="dk1"/>
              </a:solidFill>
            </a:endParaRPr>
          </a:p>
          <a:p>
            <a:pPr indent="-307975" lvl="1" marL="914400" rtl="0" algn="l">
              <a:spcBef>
                <a:spcPts val="0"/>
              </a:spcBef>
              <a:spcAft>
                <a:spcPts val="0"/>
              </a:spcAft>
              <a:buClr>
                <a:schemeClr val="dk1"/>
              </a:buClr>
              <a:buSzPts val="1250"/>
              <a:buChar char="○"/>
            </a:pPr>
            <a:r>
              <a:rPr lang="en" sz="1250">
                <a:solidFill>
                  <a:schemeClr val="dk1"/>
                </a:solidFill>
              </a:rPr>
              <a:t>Ensemble models like </a:t>
            </a:r>
            <a:r>
              <a:rPr b="1" lang="en" sz="1250">
                <a:solidFill>
                  <a:schemeClr val="dk1"/>
                </a:solidFill>
              </a:rPr>
              <a:t>Gradient Boosting</a:t>
            </a:r>
            <a:r>
              <a:rPr lang="en" sz="1250">
                <a:solidFill>
                  <a:schemeClr val="dk1"/>
                </a:solidFill>
              </a:rPr>
              <a:t> and hybrid deep learning approaches have shown improved accuracy and generalization capabilities​.</a:t>
            </a:r>
            <a:endParaRPr sz="1250">
              <a:solidFill>
                <a:schemeClr val="dk1"/>
              </a:solidFill>
            </a:endParaRPr>
          </a:p>
          <a:p>
            <a:pPr indent="-307975" lvl="0" marL="457200" rtl="0" algn="l">
              <a:spcBef>
                <a:spcPts val="0"/>
              </a:spcBef>
              <a:spcAft>
                <a:spcPts val="0"/>
              </a:spcAft>
              <a:buClr>
                <a:schemeClr val="dk1"/>
              </a:buClr>
              <a:buSzPts val="1250"/>
              <a:buAutoNum type="arabicPeriod"/>
            </a:pPr>
            <a:r>
              <a:rPr b="1" lang="en" sz="1250">
                <a:solidFill>
                  <a:schemeClr val="dk1"/>
                </a:solidFill>
              </a:rPr>
              <a:t>Addressing Class Imbalance</a:t>
            </a:r>
            <a:r>
              <a:rPr lang="en" sz="1250">
                <a:solidFill>
                  <a:schemeClr val="dk1"/>
                </a:solidFill>
              </a:rPr>
              <a:t>:</a:t>
            </a:r>
            <a:endParaRPr sz="1250">
              <a:solidFill>
                <a:schemeClr val="dk1"/>
              </a:solidFill>
            </a:endParaRPr>
          </a:p>
          <a:p>
            <a:pPr indent="-307975" lvl="1" marL="914400" rtl="0" algn="l">
              <a:spcBef>
                <a:spcPts val="0"/>
              </a:spcBef>
              <a:spcAft>
                <a:spcPts val="0"/>
              </a:spcAft>
              <a:buClr>
                <a:schemeClr val="dk1"/>
              </a:buClr>
              <a:buSzPts val="1250"/>
              <a:buChar char="○"/>
            </a:pPr>
            <a:r>
              <a:rPr lang="en" sz="1250">
                <a:solidFill>
                  <a:schemeClr val="dk1"/>
                </a:solidFill>
              </a:rPr>
              <a:t>Techniques like </a:t>
            </a:r>
            <a:r>
              <a:rPr b="1" lang="en" sz="1250">
                <a:solidFill>
                  <a:schemeClr val="dk1"/>
                </a:solidFill>
              </a:rPr>
              <a:t>SMOTE (Synthetic Minority Oversampling Technique)</a:t>
            </a:r>
            <a:r>
              <a:rPr lang="en" sz="1250">
                <a:solidFill>
                  <a:schemeClr val="dk1"/>
                </a:solidFill>
              </a:rPr>
              <a:t> have been utilized effectively to handle severe class imbalance, a critical issue in fraud detection datasets​.</a:t>
            </a:r>
            <a:endParaRPr sz="1250">
              <a:solidFill>
                <a:schemeClr val="dk1"/>
              </a:solidFill>
            </a:endParaRPr>
          </a:p>
          <a:p>
            <a:pPr indent="-307975" lvl="0" marL="457200" rtl="0" algn="l">
              <a:spcBef>
                <a:spcPts val="0"/>
              </a:spcBef>
              <a:spcAft>
                <a:spcPts val="0"/>
              </a:spcAft>
              <a:buClr>
                <a:schemeClr val="dk1"/>
              </a:buClr>
              <a:buSzPts val="1250"/>
              <a:buAutoNum type="arabicPeriod"/>
            </a:pPr>
            <a:r>
              <a:rPr b="1" lang="en" sz="1250">
                <a:solidFill>
                  <a:schemeClr val="dk1"/>
                </a:solidFill>
              </a:rPr>
              <a:t>Focus on Performance Metrics Beyond Accuracy</a:t>
            </a:r>
            <a:r>
              <a:rPr lang="en" sz="1250">
                <a:solidFill>
                  <a:schemeClr val="dk1"/>
                </a:solidFill>
              </a:rPr>
              <a:t>:</a:t>
            </a:r>
            <a:endParaRPr sz="1250">
              <a:solidFill>
                <a:schemeClr val="dk1"/>
              </a:solidFill>
            </a:endParaRPr>
          </a:p>
          <a:p>
            <a:pPr indent="-307975" lvl="1" marL="914400" rtl="0" algn="l">
              <a:spcBef>
                <a:spcPts val="0"/>
              </a:spcBef>
              <a:spcAft>
                <a:spcPts val="0"/>
              </a:spcAft>
              <a:buClr>
                <a:schemeClr val="dk1"/>
              </a:buClr>
              <a:buSzPts val="1250"/>
              <a:buChar char="○"/>
            </a:pPr>
            <a:r>
              <a:rPr lang="en" sz="1250">
                <a:solidFill>
                  <a:schemeClr val="dk1"/>
                </a:solidFill>
              </a:rPr>
              <a:t>Recent studies emphasize metrics like </a:t>
            </a:r>
            <a:r>
              <a:rPr b="1" lang="en" sz="1250">
                <a:solidFill>
                  <a:schemeClr val="dk1"/>
                </a:solidFill>
              </a:rPr>
              <a:t>AUC-ROC</a:t>
            </a:r>
            <a:r>
              <a:rPr lang="en" sz="1250">
                <a:solidFill>
                  <a:schemeClr val="dk1"/>
                </a:solidFill>
              </a:rPr>
              <a:t>, </a:t>
            </a:r>
            <a:r>
              <a:rPr b="1" lang="en" sz="1250">
                <a:solidFill>
                  <a:schemeClr val="dk1"/>
                </a:solidFill>
              </a:rPr>
              <a:t>F1-score</a:t>
            </a:r>
            <a:r>
              <a:rPr lang="en" sz="1250">
                <a:solidFill>
                  <a:schemeClr val="dk1"/>
                </a:solidFill>
              </a:rPr>
              <a:t>, and </a:t>
            </a:r>
            <a:r>
              <a:rPr b="1" lang="en" sz="1250">
                <a:solidFill>
                  <a:schemeClr val="dk1"/>
                </a:solidFill>
              </a:rPr>
              <a:t>Precision/Recall</a:t>
            </a:r>
            <a:r>
              <a:rPr lang="en" sz="1250">
                <a:solidFill>
                  <a:schemeClr val="dk1"/>
                </a:solidFill>
              </a:rPr>
              <a:t>, which provide a more nuanced understanding of fraud detection performance​.</a:t>
            </a:r>
            <a:endParaRPr sz="1250">
              <a:solidFill>
                <a:schemeClr val="dk1"/>
              </a:solidFill>
            </a:endParaRPr>
          </a:p>
          <a:p>
            <a:pPr indent="-307975" lvl="0" marL="457200" rtl="0" algn="l">
              <a:spcBef>
                <a:spcPts val="0"/>
              </a:spcBef>
              <a:spcAft>
                <a:spcPts val="0"/>
              </a:spcAft>
              <a:buClr>
                <a:schemeClr val="dk1"/>
              </a:buClr>
              <a:buSzPts val="1250"/>
              <a:buAutoNum type="arabicPeriod"/>
            </a:pPr>
            <a:r>
              <a:rPr b="1" lang="en" sz="1250">
                <a:solidFill>
                  <a:schemeClr val="dk1"/>
                </a:solidFill>
              </a:rPr>
              <a:t>Hybrid Approaches</a:t>
            </a:r>
            <a:r>
              <a:rPr lang="en" sz="1250">
                <a:solidFill>
                  <a:schemeClr val="dk1"/>
                </a:solidFill>
              </a:rPr>
              <a:t>:</a:t>
            </a:r>
            <a:endParaRPr sz="1250">
              <a:solidFill>
                <a:schemeClr val="dk1"/>
              </a:solidFill>
            </a:endParaRPr>
          </a:p>
          <a:p>
            <a:pPr indent="-307975" lvl="1" marL="914400" rtl="0" algn="l">
              <a:spcBef>
                <a:spcPts val="0"/>
              </a:spcBef>
              <a:spcAft>
                <a:spcPts val="0"/>
              </a:spcAft>
              <a:buClr>
                <a:schemeClr val="dk1"/>
              </a:buClr>
              <a:buSzPts val="1250"/>
              <a:buChar char="○"/>
            </a:pPr>
            <a:r>
              <a:rPr lang="en" sz="1250">
                <a:solidFill>
                  <a:schemeClr val="dk1"/>
                </a:solidFill>
              </a:rPr>
              <a:t>Combining anomaly detection (e.g., </a:t>
            </a:r>
            <a:r>
              <a:rPr b="1" lang="en" sz="1250">
                <a:solidFill>
                  <a:schemeClr val="dk1"/>
                </a:solidFill>
              </a:rPr>
              <a:t>Isolation Forest</a:t>
            </a:r>
            <a:r>
              <a:rPr lang="en" sz="1250">
                <a:solidFill>
                  <a:schemeClr val="dk1"/>
                </a:solidFill>
              </a:rPr>
              <a:t>) with supervised classification has been explored to enhance noise reduction and improve overall model performance​</a:t>
            </a:r>
            <a:r>
              <a:rPr lang="en" sz="1250">
                <a:solidFill>
                  <a:schemeClr val="dk1"/>
                </a:solidFill>
              </a:rPr>
              <a:t>.</a:t>
            </a:r>
            <a:endParaRPr b="1" sz="125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2900">
                <a:solidFill>
                  <a:srgbClr val="2D3B45"/>
                </a:solidFill>
                <a:highlight>
                  <a:schemeClr val="lt1"/>
                </a:highlight>
              </a:rPr>
              <a:t>Summary of weaknesses of prior work related to the proposed problem</a:t>
            </a:r>
            <a:endParaRPr sz="2900"/>
          </a:p>
          <a:p>
            <a:pPr indent="0" lvl="0" marL="0" rtl="0" algn="l">
              <a:spcBef>
                <a:spcPts val="0"/>
              </a:spcBef>
              <a:spcAft>
                <a:spcPts val="0"/>
              </a:spcAft>
              <a:buNone/>
            </a:pPr>
            <a:r>
              <a:t/>
            </a:r>
            <a:endParaRPr/>
          </a:p>
        </p:txBody>
      </p:sp>
      <p:sp>
        <p:nvSpPr>
          <p:cNvPr id="75" name="Google Shape;75;p16"/>
          <p:cNvSpPr txBox="1"/>
          <p:nvPr>
            <p:ph idx="1" type="body"/>
          </p:nvPr>
        </p:nvSpPr>
        <p:spPr>
          <a:xfrm>
            <a:off x="350850" y="966000"/>
            <a:ext cx="8520600" cy="40275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770"/>
              <a:buFont typeface="Arial"/>
              <a:buNone/>
            </a:pPr>
            <a:r>
              <a:t/>
            </a:r>
            <a:endParaRPr b="1" sz="1050">
              <a:solidFill>
                <a:schemeClr val="dk1"/>
              </a:solidFill>
            </a:endParaRPr>
          </a:p>
          <a:p>
            <a:pPr indent="-307975" lvl="0" marL="457200" rtl="0" algn="l">
              <a:spcBef>
                <a:spcPts val="1200"/>
              </a:spcBef>
              <a:spcAft>
                <a:spcPts val="0"/>
              </a:spcAft>
              <a:buClr>
                <a:schemeClr val="dk1"/>
              </a:buClr>
              <a:buSzPts val="1250"/>
              <a:buAutoNum type="arabicPeriod"/>
            </a:pPr>
            <a:r>
              <a:rPr b="1" lang="en" sz="1250">
                <a:solidFill>
                  <a:schemeClr val="dk1"/>
                </a:solidFill>
              </a:rPr>
              <a:t>Class Imbalance Still a Major Challenge</a:t>
            </a:r>
            <a:r>
              <a:rPr lang="en" sz="1250">
                <a:solidFill>
                  <a:schemeClr val="dk1"/>
                </a:solidFill>
              </a:rPr>
              <a:t>:</a:t>
            </a:r>
            <a:endParaRPr sz="1250">
              <a:solidFill>
                <a:schemeClr val="dk1"/>
              </a:solidFill>
            </a:endParaRPr>
          </a:p>
          <a:p>
            <a:pPr indent="-307975" lvl="1" marL="914400" rtl="0" algn="l">
              <a:spcBef>
                <a:spcPts val="0"/>
              </a:spcBef>
              <a:spcAft>
                <a:spcPts val="0"/>
              </a:spcAft>
              <a:buClr>
                <a:schemeClr val="dk1"/>
              </a:buClr>
              <a:buSzPts val="1250"/>
              <a:buChar char="○"/>
            </a:pPr>
            <a:r>
              <a:rPr lang="en" sz="1250">
                <a:solidFill>
                  <a:schemeClr val="dk1"/>
                </a:solidFill>
              </a:rPr>
              <a:t>Despite oversampling techniques like SMOTE, many models fail to generalize well in real-world scenarios, leading to high false negatives and false positives​.</a:t>
            </a:r>
            <a:endParaRPr sz="1250">
              <a:solidFill>
                <a:schemeClr val="dk1"/>
              </a:solidFill>
            </a:endParaRPr>
          </a:p>
          <a:p>
            <a:pPr indent="-307975" lvl="0" marL="457200" rtl="0" algn="l">
              <a:spcBef>
                <a:spcPts val="0"/>
              </a:spcBef>
              <a:spcAft>
                <a:spcPts val="0"/>
              </a:spcAft>
              <a:buClr>
                <a:schemeClr val="dk1"/>
              </a:buClr>
              <a:buSzPts val="1250"/>
              <a:buAutoNum type="arabicPeriod"/>
            </a:pPr>
            <a:r>
              <a:rPr b="1" lang="en" sz="1250">
                <a:solidFill>
                  <a:schemeClr val="dk1"/>
                </a:solidFill>
              </a:rPr>
              <a:t>High False Positive Rates</a:t>
            </a:r>
            <a:r>
              <a:rPr lang="en" sz="1250">
                <a:solidFill>
                  <a:schemeClr val="dk1"/>
                </a:solidFill>
              </a:rPr>
              <a:t>:</a:t>
            </a:r>
            <a:endParaRPr sz="1250">
              <a:solidFill>
                <a:schemeClr val="dk1"/>
              </a:solidFill>
            </a:endParaRPr>
          </a:p>
          <a:p>
            <a:pPr indent="-307975" lvl="1" marL="914400" rtl="0" algn="l">
              <a:spcBef>
                <a:spcPts val="0"/>
              </a:spcBef>
              <a:spcAft>
                <a:spcPts val="0"/>
              </a:spcAft>
              <a:buClr>
                <a:schemeClr val="dk1"/>
              </a:buClr>
              <a:buSzPts val="1250"/>
              <a:buChar char="○"/>
            </a:pPr>
            <a:r>
              <a:rPr lang="en" sz="1250">
                <a:solidFill>
                  <a:schemeClr val="dk1"/>
                </a:solidFill>
              </a:rPr>
              <a:t>Classical models like Random Forest and Naive Bayes often suffer from high false positive rates, which can disrupt legitimate transactions and degrade customer trust.</a:t>
            </a:r>
            <a:endParaRPr sz="1250">
              <a:solidFill>
                <a:schemeClr val="dk1"/>
              </a:solidFill>
            </a:endParaRPr>
          </a:p>
          <a:p>
            <a:pPr indent="-307975" lvl="0" marL="457200" rtl="0" algn="l">
              <a:spcBef>
                <a:spcPts val="0"/>
              </a:spcBef>
              <a:spcAft>
                <a:spcPts val="0"/>
              </a:spcAft>
              <a:buClr>
                <a:schemeClr val="dk1"/>
              </a:buClr>
              <a:buSzPts val="1250"/>
              <a:buAutoNum type="arabicPeriod"/>
            </a:pPr>
            <a:r>
              <a:rPr b="1" lang="en" sz="1250">
                <a:solidFill>
                  <a:schemeClr val="dk1"/>
                </a:solidFill>
              </a:rPr>
              <a:t>Limited Use of Hybrid Models</a:t>
            </a:r>
            <a:r>
              <a:rPr lang="en" sz="1250">
                <a:solidFill>
                  <a:schemeClr val="dk1"/>
                </a:solidFill>
              </a:rPr>
              <a:t>:</a:t>
            </a:r>
            <a:endParaRPr sz="1250">
              <a:solidFill>
                <a:schemeClr val="dk1"/>
              </a:solidFill>
            </a:endParaRPr>
          </a:p>
          <a:p>
            <a:pPr indent="-307975" lvl="1" marL="914400" rtl="0" algn="l">
              <a:spcBef>
                <a:spcPts val="0"/>
              </a:spcBef>
              <a:spcAft>
                <a:spcPts val="0"/>
              </a:spcAft>
              <a:buClr>
                <a:schemeClr val="dk1"/>
              </a:buClr>
              <a:buSzPts val="1250"/>
              <a:buChar char="○"/>
            </a:pPr>
            <a:r>
              <a:rPr lang="en" sz="1250">
                <a:solidFill>
                  <a:schemeClr val="dk1"/>
                </a:solidFill>
              </a:rPr>
              <a:t>Most studies focus on either anomaly detection or supervised classification independently, with limited exploration of their combined potential to address rare fraudulent cases​.</a:t>
            </a:r>
            <a:endParaRPr sz="1250">
              <a:solidFill>
                <a:schemeClr val="dk1"/>
              </a:solidFill>
            </a:endParaRPr>
          </a:p>
          <a:p>
            <a:pPr indent="-307975" lvl="0" marL="457200" rtl="0" algn="l">
              <a:spcBef>
                <a:spcPts val="0"/>
              </a:spcBef>
              <a:spcAft>
                <a:spcPts val="0"/>
              </a:spcAft>
              <a:buClr>
                <a:schemeClr val="dk1"/>
              </a:buClr>
              <a:buSzPts val="1250"/>
              <a:buAutoNum type="arabicPeriod"/>
            </a:pPr>
            <a:r>
              <a:rPr b="1" lang="en" sz="1250">
                <a:solidFill>
                  <a:schemeClr val="dk1"/>
                </a:solidFill>
              </a:rPr>
              <a:t>Dependence on Static Features</a:t>
            </a:r>
            <a:r>
              <a:rPr lang="en" sz="1250">
                <a:solidFill>
                  <a:schemeClr val="dk1"/>
                </a:solidFill>
              </a:rPr>
              <a:t>:</a:t>
            </a:r>
            <a:endParaRPr sz="1250">
              <a:solidFill>
                <a:schemeClr val="dk1"/>
              </a:solidFill>
            </a:endParaRPr>
          </a:p>
          <a:p>
            <a:pPr indent="-307975" lvl="1" marL="914400" rtl="0" algn="l">
              <a:spcBef>
                <a:spcPts val="0"/>
              </a:spcBef>
              <a:spcAft>
                <a:spcPts val="0"/>
              </a:spcAft>
              <a:buClr>
                <a:schemeClr val="dk1"/>
              </a:buClr>
              <a:buSzPts val="1250"/>
              <a:buChar char="○"/>
            </a:pPr>
            <a:r>
              <a:rPr lang="en" sz="1250">
                <a:solidFill>
                  <a:schemeClr val="dk1"/>
                </a:solidFill>
              </a:rPr>
              <a:t>Many models rely on static features like demographics and transaction details without incorporating dynamic behavioral patterns or real-time data streams​.</a:t>
            </a:r>
            <a:endParaRPr sz="1250">
              <a:solidFill>
                <a:schemeClr val="dk1"/>
              </a:solidFill>
            </a:endParaRPr>
          </a:p>
          <a:p>
            <a:pPr indent="-307975" lvl="0" marL="457200" rtl="0" algn="l">
              <a:spcBef>
                <a:spcPts val="0"/>
              </a:spcBef>
              <a:spcAft>
                <a:spcPts val="0"/>
              </a:spcAft>
              <a:buClr>
                <a:schemeClr val="dk1"/>
              </a:buClr>
              <a:buSzPts val="1250"/>
              <a:buAutoNum type="arabicPeriod"/>
            </a:pPr>
            <a:r>
              <a:rPr b="1" lang="en" sz="1250">
                <a:solidFill>
                  <a:schemeClr val="dk1"/>
                </a:solidFill>
              </a:rPr>
              <a:t>Scalability and Deployment Issues</a:t>
            </a:r>
            <a:r>
              <a:rPr lang="en" sz="1250">
                <a:solidFill>
                  <a:schemeClr val="dk1"/>
                </a:solidFill>
              </a:rPr>
              <a:t>:</a:t>
            </a:r>
            <a:endParaRPr sz="1250">
              <a:solidFill>
                <a:schemeClr val="dk1"/>
              </a:solidFill>
            </a:endParaRPr>
          </a:p>
          <a:p>
            <a:pPr indent="-307975" lvl="1" marL="914400" rtl="0" algn="l">
              <a:spcBef>
                <a:spcPts val="0"/>
              </a:spcBef>
              <a:spcAft>
                <a:spcPts val="0"/>
              </a:spcAft>
              <a:buClr>
                <a:schemeClr val="dk1"/>
              </a:buClr>
              <a:buSzPts val="1250"/>
              <a:buChar char="○"/>
            </a:pPr>
            <a:r>
              <a:rPr lang="en" sz="1250">
                <a:solidFill>
                  <a:schemeClr val="dk1"/>
                </a:solidFill>
              </a:rPr>
              <a:t>Complex hybrid models, such as deep learning-based techniques, often face scalability challenges, making real-time fraud detection harder to achieve​.</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en" sz="2900">
                <a:solidFill>
                  <a:srgbClr val="2D3B45"/>
                </a:solidFill>
              </a:rPr>
              <a:t>Relevant dataset</a:t>
            </a:r>
            <a:endParaRPr b="1" sz="2900">
              <a:solidFill>
                <a:srgbClr val="2D3B45"/>
              </a:solidFill>
            </a:endParaRPr>
          </a:p>
          <a:p>
            <a:pPr indent="0" lvl="0" marL="0" rtl="0" algn="l">
              <a:spcBef>
                <a:spcPts val="0"/>
              </a:spcBef>
              <a:spcAft>
                <a:spcPts val="0"/>
              </a:spcAft>
              <a:buSzPts val="990"/>
              <a:buNone/>
            </a:pPr>
            <a:r>
              <a:t/>
            </a:r>
            <a:endParaRPr sz="2520"/>
          </a:p>
        </p:txBody>
      </p:sp>
      <p:sp>
        <p:nvSpPr>
          <p:cNvPr id="81" name="Google Shape;81;p17"/>
          <p:cNvSpPr txBox="1"/>
          <p:nvPr>
            <p:ph idx="1" type="body"/>
          </p:nvPr>
        </p:nvSpPr>
        <p:spPr>
          <a:xfrm>
            <a:off x="311700" y="853700"/>
            <a:ext cx="8520600" cy="39570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sz="1250">
                <a:solidFill>
                  <a:srgbClr val="2D3B45"/>
                </a:solidFill>
                <a:highlight>
                  <a:srgbClr val="FFFFFF"/>
                </a:highlight>
              </a:rPr>
              <a:t>Clear description of dataset used including helpful information such as class distribution, example visualizations, or other information</a:t>
            </a:r>
            <a:endParaRPr b="1" sz="1250">
              <a:solidFill>
                <a:srgbClr val="2D3B45"/>
              </a:solidFill>
              <a:highlight>
                <a:srgbClr val="FFFFFF"/>
              </a:highlight>
            </a:endParaRPr>
          </a:p>
          <a:p>
            <a:pPr indent="0" lvl="0" marL="0" rtl="0" algn="l">
              <a:spcBef>
                <a:spcPts val="1200"/>
              </a:spcBef>
              <a:spcAft>
                <a:spcPts val="0"/>
              </a:spcAft>
              <a:buNone/>
            </a:pPr>
            <a:r>
              <a:rPr b="1" lang="en" sz="1250">
                <a:solidFill>
                  <a:schemeClr val="dk1"/>
                </a:solidFill>
              </a:rPr>
              <a:t>Dataset:</a:t>
            </a:r>
            <a:r>
              <a:rPr lang="en" sz="1250">
                <a:solidFill>
                  <a:schemeClr val="dk1"/>
                </a:solidFill>
              </a:rPr>
              <a:t> IEEE-CIS Fraud Detection Dataset (590,000 transactions, 20+ features).</a:t>
            </a:r>
            <a:endParaRPr sz="1250">
              <a:solidFill>
                <a:schemeClr val="dk1"/>
              </a:solidFill>
            </a:endParaRPr>
          </a:p>
          <a:p>
            <a:pPr indent="0" lvl="0" marL="0" rtl="0" algn="l">
              <a:spcBef>
                <a:spcPts val="1200"/>
              </a:spcBef>
              <a:spcAft>
                <a:spcPts val="0"/>
              </a:spcAft>
              <a:buNone/>
            </a:pPr>
            <a:r>
              <a:rPr b="1" lang="en" sz="1250">
                <a:solidFill>
                  <a:schemeClr val="dk1"/>
                </a:solidFill>
              </a:rPr>
              <a:t>Class Distribution:</a:t>
            </a:r>
            <a:endParaRPr b="1" sz="1250">
              <a:solidFill>
                <a:schemeClr val="dk1"/>
              </a:solidFill>
            </a:endParaRPr>
          </a:p>
          <a:p>
            <a:pPr indent="-307975" lvl="0" marL="457200" rtl="0" algn="l">
              <a:spcBef>
                <a:spcPts val="1200"/>
              </a:spcBef>
              <a:spcAft>
                <a:spcPts val="0"/>
              </a:spcAft>
              <a:buClr>
                <a:schemeClr val="dk1"/>
              </a:buClr>
              <a:buSzPts val="1250"/>
              <a:buChar char="●"/>
            </a:pPr>
            <a:r>
              <a:rPr lang="en" sz="1250">
                <a:solidFill>
                  <a:schemeClr val="dk1"/>
                </a:solidFill>
              </a:rPr>
              <a:t>96.5% Non-Fraudulent Transactions</a:t>
            </a:r>
            <a:endParaRPr sz="1250">
              <a:solidFill>
                <a:schemeClr val="dk1"/>
              </a:solidFill>
            </a:endParaRPr>
          </a:p>
          <a:p>
            <a:pPr indent="-307975" lvl="0" marL="457200" rtl="0" algn="l">
              <a:spcBef>
                <a:spcPts val="0"/>
              </a:spcBef>
              <a:spcAft>
                <a:spcPts val="0"/>
              </a:spcAft>
              <a:buClr>
                <a:schemeClr val="dk1"/>
              </a:buClr>
              <a:buSzPts val="1250"/>
              <a:buChar char="●"/>
            </a:pPr>
            <a:r>
              <a:rPr lang="en" sz="1250">
                <a:solidFill>
                  <a:schemeClr val="dk1"/>
                </a:solidFill>
              </a:rPr>
              <a:t>3.5% Fraudulent Transactions</a:t>
            </a:r>
            <a:endParaRPr sz="1250">
              <a:solidFill>
                <a:schemeClr val="dk1"/>
              </a:solidFill>
            </a:endParaRPr>
          </a:p>
          <a:p>
            <a:pPr indent="0" lvl="0" marL="0" rtl="0" algn="l">
              <a:spcBef>
                <a:spcPts val="1200"/>
              </a:spcBef>
              <a:spcAft>
                <a:spcPts val="0"/>
              </a:spcAft>
              <a:buNone/>
            </a:pPr>
            <a:r>
              <a:rPr b="1" lang="en" sz="1250">
                <a:solidFill>
                  <a:schemeClr val="dk1"/>
                </a:solidFill>
              </a:rPr>
              <a:t>Preprocessing:</a:t>
            </a:r>
            <a:endParaRPr b="1" sz="1250">
              <a:solidFill>
                <a:schemeClr val="dk1"/>
              </a:solidFill>
            </a:endParaRPr>
          </a:p>
          <a:p>
            <a:pPr indent="-307975" lvl="0" marL="457200" rtl="0" algn="l">
              <a:spcBef>
                <a:spcPts val="1200"/>
              </a:spcBef>
              <a:spcAft>
                <a:spcPts val="0"/>
              </a:spcAft>
              <a:buClr>
                <a:schemeClr val="dk1"/>
              </a:buClr>
              <a:buSzPts val="1250"/>
              <a:buChar char="●"/>
            </a:pPr>
            <a:r>
              <a:rPr lang="en" sz="1250">
                <a:solidFill>
                  <a:schemeClr val="dk1"/>
                </a:solidFill>
              </a:rPr>
              <a:t>Handling missing values</a:t>
            </a:r>
            <a:endParaRPr sz="1250">
              <a:solidFill>
                <a:schemeClr val="dk1"/>
              </a:solidFill>
            </a:endParaRPr>
          </a:p>
          <a:p>
            <a:pPr indent="-307975" lvl="0" marL="457200" rtl="0" algn="l">
              <a:spcBef>
                <a:spcPts val="0"/>
              </a:spcBef>
              <a:spcAft>
                <a:spcPts val="0"/>
              </a:spcAft>
              <a:buClr>
                <a:schemeClr val="dk1"/>
              </a:buClr>
              <a:buSzPts val="1250"/>
              <a:buChar char="●"/>
            </a:pPr>
            <a:r>
              <a:rPr lang="en" sz="1250">
                <a:solidFill>
                  <a:schemeClr val="dk1"/>
                </a:solidFill>
              </a:rPr>
              <a:t>Data partitioning</a:t>
            </a:r>
            <a:endParaRPr sz="1250">
              <a:solidFill>
                <a:schemeClr val="dk1"/>
              </a:solidFill>
            </a:endParaRPr>
          </a:p>
          <a:p>
            <a:pPr indent="-307975" lvl="0" marL="457200" rtl="0" algn="l">
              <a:spcBef>
                <a:spcPts val="0"/>
              </a:spcBef>
              <a:spcAft>
                <a:spcPts val="0"/>
              </a:spcAft>
              <a:buClr>
                <a:schemeClr val="dk1"/>
              </a:buClr>
              <a:buSzPts val="1250"/>
              <a:buChar char="●"/>
            </a:pPr>
            <a:r>
              <a:rPr lang="en" sz="1250">
                <a:solidFill>
                  <a:schemeClr val="dk1"/>
                </a:solidFill>
              </a:rPr>
              <a:t>SMOTE for class imbalance</a:t>
            </a:r>
            <a:endParaRPr sz="1250">
              <a:solidFill>
                <a:schemeClr val="dk1"/>
              </a:solidFill>
            </a:endParaRPr>
          </a:p>
          <a:p>
            <a:pPr indent="-307975" lvl="0" marL="457200" rtl="0" algn="l">
              <a:spcBef>
                <a:spcPts val="0"/>
              </a:spcBef>
              <a:spcAft>
                <a:spcPts val="0"/>
              </a:spcAft>
              <a:buClr>
                <a:schemeClr val="dk1"/>
              </a:buClr>
              <a:buSzPts val="1250"/>
              <a:buChar char="●"/>
            </a:pPr>
            <a:r>
              <a:rPr lang="en" sz="1250">
                <a:solidFill>
                  <a:schemeClr val="dk1"/>
                </a:solidFill>
              </a:rPr>
              <a:t>PCA for dimensionality reduction</a:t>
            </a:r>
            <a:endParaRPr sz="1250">
              <a:solidFill>
                <a:schemeClr val="dk1"/>
              </a:solidFill>
            </a:endParaRPr>
          </a:p>
          <a:p>
            <a:pPr indent="-307975" lvl="0" marL="457200" rtl="0" algn="l">
              <a:spcBef>
                <a:spcPts val="0"/>
              </a:spcBef>
              <a:spcAft>
                <a:spcPts val="0"/>
              </a:spcAft>
              <a:buClr>
                <a:schemeClr val="dk1"/>
              </a:buClr>
              <a:buSzPts val="1250"/>
              <a:buChar char="●"/>
            </a:pPr>
            <a:r>
              <a:rPr lang="en" sz="1250">
                <a:solidFill>
                  <a:schemeClr val="dk1"/>
                </a:solidFill>
              </a:rPr>
              <a:t>Data formatting</a:t>
            </a:r>
            <a:endParaRPr sz="1250">
              <a:solidFill>
                <a:schemeClr val="dk1"/>
              </a:solidFill>
            </a:endParaRPr>
          </a:p>
          <a:p>
            <a:pPr indent="-307975" lvl="0" marL="457200" rtl="0" algn="l">
              <a:spcBef>
                <a:spcPts val="0"/>
              </a:spcBef>
              <a:spcAft>
                <a:spcPts val="0"/>
              </a:spcAft>
              <a:buClr>
                <a:schemeClr val="dk1"/>
              </a:buClr>
              <a:buSzPts val="1250"/>
              <a:buChar char="●"/>
            </a:pPr>
            <a:r>
              <a:rPr lang="en" sz="1250">
                <a:solidFill>
                  <a:schemeClr val="dk1"/>
                </a:solidFill>
              </a:rPr>
              <a:t>Deriving new features using aggregations</a:t>
            </a:r>
            <a:endParaRPr b="1" sz="1000">
              <a:solidFill>
                <a:srgbClr val="2D3B45"/>
              </a:solidFill>
              <a:highlight>
                <a:srgbClr val="FFFFFF"/>
              </a:highlight>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452675"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900">
                <a:solidFill>
                  <a:srgbClr val="2D3B45"/>
                </a:solidFill>
                <a:highlight>
                  <a:srgbClr val="FFFFFF"/>
                </a:highlight>
              </a:rPr>
              <a:t>Method choice and implementation</a:t>
            </a:r>
            <a:endParaRPr b="1" sz="2900"/>
          </a:p>
        </p:txBody>
      </p:sp>
      <p:sp>
        <p:nvSpPr>
          <p:cNvPr id="87" name="Google Shape;87;p18"/>
          <p:cNvSpPr txBox="1"/>
          <p:nvPr>
            <p:ph idx="1" type="body"/>
          </p:nvPr>
        </p:nvSpPr>
        <p:spPr>
          <a:xfrm>
            <a:off x="311700" y="518675"/>
            <a:ext cx="8520600" cy="3416400"/>
          </a:xfrm>
          <a:prstGeom prst="rect">
            <a:avLst/>
          </a:prstGeom>
        </p:spPr>
        <p:txBody>
          <a:bodyPr anchorCtr="0" anchor="t" bIns="91425" lIns="91425" spcFirstLastPara="1" rIns="91425" wrap="square" tIns="91425">
            <a:noAutofit/>
          </a:bodyPr>
          <a:lstStyle/>
          <a:p>
            <a:pPr indent="0" lvl="0" marL="0" rtl="0" algn="just">
              <a:spcBef>
                <a:spcPts val="1200"/>
              </a:spcBef>
              <a:spcAft>
                <a:spcPts val="0"/>
              </a:spcAft>
              <a:buClr>
                <a:schemeClr val="dk1"/>
              </a:buClr>
              <a:buSzPts val="1100"/>
              <a:buFont typeface="Arial"/>
              <a:buNone/>
            </a:pPr>
            <a:r>
              <a:rPr b="1" lang="en" sz="1150">
                <a:solidFill>
                  <a:schemeClr val="dk1"/>
                </a:solidFill>
              </a:rPr>
              <a:t>Description of the Chosen Method</a:t>
            </a:r>
            <a:endParaRPr b="1" sz="1150">
              <a:solidFill>
                <a:schemeClr val="dk1"/>
              </a:solidFill>
            </a:endParaRPr>
          </a:p>
          <a:p>
            <a:pPr indent="0" lvl="0" marL="0" rtl="0" algn="just">
              <a:spcBef>
                <a:spcPts val="1200"/>
              </a:spcBef>
              <a:spcAft>
                <a:spcPts val="0"/>
              </a:spcAft>
              <a:buClr>
                <a:schemeClr val="dk1"/>
              </a:buClr>
              <a:buSzPts val="1100"/>
              <a:buFont typeface="Arial"/>
              <a:buNone/>
            </a:pPr>
            <a:r>
              <a:rPr lang="en" sz="1150">
                <a:solidFill>
                  <a:schemeClr val="dk1"/>
                </a:solidFill>
              </a:rPr>
              <a:t>The chosen method adopts a </a:t>
            </a:r>
            <a:r>
              <a:rPr b="1" lang="en" sz="1150">
                <a:solidFill>
                  <a:schemeClr val="dk1"/>
                </a:solidFill>
              </a:rPr>
              <a:t>hybrid approach</a:t>
            </a:r>
            <a:r>
              <a:rPr lang="en" sz="1150">
                <a:solidFill>
                  <a:schemeClr val="dk1"/>
                </a:solidFill>
              </a:rPr>
              <a:t> combining </a:t>
            </a:r>
            <a:r>
              <a:rPr b="1" lang="en" sz="1150">
                <a:solidFill>
                  <a:schemeClr val="dk1"/>
                </a:solidFill>
              </a:rPr>
              <a:t>anomaly detection</a:t>
            </a:r>
            <a:r>
              <a:rPr lang="en" sz="1150">
                <a:solidFill>
                  <a:schemeClr val="dk1"/>
                </a:solidFill>
              </a:rPr>
              <a:t> and </a:t>
            </a:r>
            <a:r>
              <a:rPr b="1" lang="en" sz="1150">
                <a:solidFill>
                  <a:schemeClr val="dk1"/>
                </a:solidFill>
              </a:rPr>
              <a:t>supervised classification</a:t>
            </a:r>
            <a:r>
              <a:rPr lang="en" sz="1150">
                <a:solidFill>
                  <a:schemeClr val="dk1"/>
                </a:solidFill>
              </a:rPr>
              <a:t> to address the challenges of fraud detection. This method leverages the strengths of both unsupervised and supervised techniques, ensuring robustness in detecting rare fraudulent transactions in highly imbalanced datasets.</a:t>
            </a:r>
            <a:endParaRPr sz="1150">
              <a:solidFill>
                <a:schemeClr val="dk1"/>
              </a:solidFill>
            </a:endParaRPr>
          </a:p>
          <a:p>
            <a:pPr indent="-301625" lvl="0" marL="457200" rtl="0" algn="just">
              <a:spcBef>
                <a:spcPts val="1200"/>
              </a:spcBef>
              <a:spcAft>
                <a:spcPts val="0"/>
              </a:spcAft>
              <a:buClr>
                <a:schemeClr val="dk1"/>
              </a:buClr>
              <a:buSzPts val="1150"/>
              <a:buAutoNum type="arabicPeriod"/>
            </a:pPr>
            <a:r>
              <a:rPr b="1" lang="en" sz="1150">
                <a:solidFill>
                  <a:schemeClr val="dk1"/>
                </a:solidFill>
              </a:rPr>
              <a:t>Anomaly Detection Phase</a:t>
            </a:r>
            <a:r>
              <a:rPr lang="en" sz="1150">
                <a:solidFill>
                  <a:schemeClr val="dk1"/>
                </a:solidFill>
              </a:rPr>
              <a:t>:</a:t>
            </a:r>
            <a:endParaRPr sz="1150">
              <a:solidFill>
                <a:schemeClr val="dk1"/>
              </a:solidFill>
            </a:endParaRPr>
          </a:p>
          <a:p>
            <a:pPr indent="-301625" lvl="1" marL="914400" rtl="0" algn="just">
              <a:spcBef>
                <a:spcPts val="0"/>
              </a:spcBef>
              <a:spcAft>
                <a:spcPts val="0"/>
              </a:spcAft>
              <a:buClr>
                <a:schemeClr val="dk1"/>
              </a:buClr>
              <a:buSzPts val="1150"/>
              <a:buChar char="○"/>
            </a:pPr>
            <a:r>
              <a:rPr lang="en" sz="1150">
                <a:solidFill>
                  <a:schemeClr val="dk1"/>
                </a:solidFill>
              </a:rPr>
              <a:t>Used to identify potential fraud cases by isolating outliers in the dataset.</a:t>
            </a:r>
            <a:endParaRPr sz="1150">
              <a:solidFill>
                <a:schemeClr val="dk1"/>
              </a:solidFill>
            </a:endParaRPr>
          </a:p>
          <a:p>
            <a:pPr indent="-301625" lvl="1" marL="914400" rtl="0" algn="just">
              <a:spcBef>
                <a:spcPts val="0"/>
              </a:spcBef>
              <a:spcAft>
                <a:spcPts val="0"/>
              </a:spcAft>
              <a:buClr>
                <a:schemeClr val="dk1"/>
              </a:buClr>
              <a:buSzPts val="1150"/>
              <a:buChar char="○"/>
            </a:pPr>
            <a:r>
              <a:rPr lang="en" sz="1150">
                <a:solidFill>
                  <a:schemeClr val="dk1"/>
                </a:solidFill>
              </a:rPr>
              <a:t>Techniques applied:</a:t>
            </a:r>
            <a:endParaRPr sz="1150">
              <a:solidFill>
                <a:schemeClr val="dk1"/>
              </a:solidFill>
            </a:endParaRPr>
          </a:p>
          <a:p>
            <a:pPr indent="-301625" lvl="2" marL="1371600" rtl="0" algn="just">
              <a:spcBef>
                <a:spcPts val="0"/>
              </a:spcBef>
              <a:spcAft>
                <a:spcPts val="0"/>
              </a:spcAft>
              <a:buClr>
                <a:schemeClr val="dk1"/>
              </a:buClr>
              <a:buSzPts val="1150"/>
              <a:buChar char="■"/>
            </a:pPr>
            <a:r>
              <a:rPr b="1" lang="en" sz="1150">
                <a:solidFill>
                  <a:schemeClr val="dk1"/>
                </a:solidFill>
              </a:rPr>
              <a:t>Isolation Forest (IF):</a:t>
            </a:r>
            <a:r>
              <a:rPr lang="en" sz="1150">
                <a:solidFill>
                  <a:schemeClr val="dk1"/>
                </a:solidFill>
              </a:rPr>
              <a:t> Efficiently isolates anomalies by creating random partitions in the data.</a:t>
            </a:r>
            <a:endParaRPr sz="1150">
              <a:solidFill>
                <a:schemeClr val="dk1"/>
              </a:solidFill>
            </a:endParaRPr>
          </a:p>
          <a:p>
            <a:pPr indent="-301625" lvl="2" marL="1371600" rtl="0" algn="just">
              <a:spcBef>
                <a:spcPts val="0"/>
              </a:spcBef>
              <a:spcAft>
                <a:spcPts val="0"/>
              </a:spcAft>
              <a:buClr>
                <a:schemeClr val="dk1"/>
              </a:buClr>
              <a:buSzPts val="1150"/>
              <a:buChar char="■"/>
            </a:pPr>
            <a:r>
              <a:rPr b="1" lang="en" sz="1150">
                <a:solidFill>
                  <a:schemeClr val="dk1"/>
                </a:solidFill>
              </a:rPr>
              <a:t>Support Vector Machine (SVM):</a:t>
            </a:r>
            <a:r>
              <a:rPr lang="en" sz="1150">
                <a:solidFill>
                  <a:schemeClr val="dk1"/>
                </a:solidFill>
              </a:rPr>
              <a:t> Flags outliers using hyperplane-based boundaries.</a:t>
            </a:r>
            <a:endParaRPr sz="1150">
              <a:solidFill>
                <a:schemeClr val="dk1"/>
              </a:solidFill>
            </a:endParaRPr>
          </a:p>
          <a:p>
            <a:pPr indent="-301625" lvl="2" marL="1371600" rtl="0" algn="just">
              <a:spcBef>
                <a:spcPts val="0"/>
              </a:spcBef>
              <a:spcAft>
                <a:spcPts val="0"/>
              </a:spcAft>
              <a:buClr>
                <a:schemeClr val="dk1"/>
              </a:buClr>
              <a:buSzPts val="1150"/>
              <a:buChar char="■"/>
            </a:pPr>
            <a:r>
              <a:rPr b="1" lang="en" sz="1150">
                <a:solidFill>
                  <a:schemeClr val="dk1"/>
                </a:solidFill>
              </a:rPr>
              <a:t>Autoencoders (AE):</a:t>
            </a:r>
            <a:r>
              <a:rPr lang="en" sz="1150">
                <a:solidFill>
                  <a:schemeClr val="dk1"/>
                </a:solidFill>
              </a:rPr>
              <a:t> A neural network-based approach that reconstructs input data and identifies anomalies as deviations.</a:t>
            </a:r>
            <a:endParaRPr sz="1150">
              <a:solidFill>
                <a:schemeClr val="dk1"/>
              </a:solidFill>
            </a:endParaRPr>
          </a:p>
          <a:p>
            <a:pPr indent="-301625" lvl="0" marL="457200" rtl="0" algn="just">
              <a:spcBef>
                <a:spcPts val="0"/>
              </a:spcBef>
              <a:spcAft>
                <a:spcPts val="0"/>
              </a:spcAft>
              <a:buClr>
                <a:schemeClr val="dk1"/>
              </a:buClr>
              <a:buSzPts val="1150"/>
              <a:buAutoNum type="arabicPeriod"/>
            </a:pPr>
            <a:r>
              <a:rPr b="1" lang="en" sz="1150">
                <a:solidFill>
                  <a:schemeClr val="dk1"/>
                </a:solidFill>
              </a:rPr>
              <a:t>Supervised Classification Phase</a:t>
            </a:r>
            <a:r>
              <a:rPr lang="en" sz="1150">
                <a:solidFill>
                  <a:schemeClr val="dk1"/>
                </a:solidFill>
              </a:rPr>
              <a:t>:</a:t>
            </a:r>
            <a:endParaRPr sz="1150">
              <a:solidFill>
                <a:schemeClr val="dk1"/>
              </a:solidFill>
            </a:endParaRPr>
          </a:p>
          <a:p>
            <a:pPr indent="-301625" lvl="1" marL="914400" rtl="0" algn="just">
              <a:spcBef>
                <a:spcPts val="0"/>
              </a:spcBef>
              <a:spcAft>
                <a:spcPts val="0"/>
              </a:spcAft>
              <a:buClr>
                <a:schemeClr val="dk1"/>
              </a:buClr>
              <a:buSzPts val="1150"/>
              <a:buChar char="○"/>
            </a:pPr>
            <a:r>
              <a:rPr lang="en" sz="1150">
                <a:solidFill>
                  <a:schemeClr val="dk1"/>
                </a:solidFill>
              </a:rPr>
              <a:t>Focused on refining the results from the anomaly detection phase.</a:t>
            </a:r>
            <a:endParaRPr sz="1150">
              <a:solidFill>
                <a:schemeClr val="dk1"/>
              </a:solidFill>
            </a:endParaRPr>
          </a:p>
          <a:p>
            <a:pPr indent="-301625" lvl="1" marL="914400" rtl="0" algn="just">
              <a:spcBef>
                <a:spcPts val="0"/>
              </a:spcBef>
              <a:spcAft>
                <a:spcPts val="0"/>
              </a:spcAft>
              <a:buClr>
                <a:schemeClr val="dk1"/>
              </a:buClr>
              <a:buSzPts val="1150"/>
              <a:buChar char="○"/>
            </a:pPr>
            <a:r>
              <a:rPr lang="en" sz="1150">
                <a:solidFill>
                  <a:schemeClr val="dk1"/>
                </a:solidFill>
              </a:rPr>
              <a:t>Models applied:</a:t>
            </a:r>
            <a:endParaRPr sz="1150">
              <a:solidFill>
                <a:schemeClr val="dk1"/>
              </a:solidFill>
            </a:endParaRPr>
          </a:p>
          <a:p>
            <a:pPr indent="-301625" lvl="2" marL="1371600" rtl="0" algn="just">
              <a:spcBef>
                <a:spcPts val="0"/>
              </a:spcBef>
              <a:spcAft>
                <a:spcPts val="0"/>
              </a:spcAft>
              <a:buClr>
                <a:schemeClr val="dk1"/>
              </a:buClr>
              <a:buSzPts val="1150"/>
              <a:buChar char="■"/>
            </a:pPr>
            <a:r>
              <a:rPr b="1" lang="en" sz="1150">
                <a:solidFill>
                  <a:schemeClr val="dk1"/>
                </a:solidFill>
              </a:rPr>
              <a:t>Random Forest (RF):</a:t>
            </a:r>
            <a:r>
              <a:rPr lang="en" sz="1150">
                <a:solidFill>
                  <a:schemeClr val="dk1"/>
                </a:solidFill>
              </a:rPr>
              <a:t> An ensemble technique that handles high-dimensional and complex data effectively.</a:t>
            </a:r>
            <a:endParaRPr sz="1150">
              <a:solidFill>
                <a:schemeClr val="dk1"/>
              </a:solidFill>
            </a:endParaRPr>
          </a:p>
          <a:p>
            <a:pPr indent="-301625" lvl="2" marL="1371600" rtl="0" algn="just">
              <a:spcBef>
                <a:spcPts val="0"/>
              </a:spcBef>
              <a:spcAft>
                <a:spcPts val="0"/>
              </a:spcAft>
              <a:buClr>
                <a:schemeClr val="dk1"/>
              </a:buClr>
              <a:buSzPts val="1150"/>
              <a:buChar char="■"/>
            </a:pPr>
            <a:r>
              <a:rPr b="1" lang="en" sz="1150">
                <a:solidFill>
                  <a:schemeClr val="dk1"/>
                </a:solidFill>
              </a:rPr>
              <a:t>XGBoost (XG):</a:t>
            </a:r>
            <a:r>
              <a:rPr lang="en" sz="1150">
                <a:solidFill>
                  <a:schemeClr val="dk1"/>
                </a:solidFill>
              </a:rPr>
              <a:t> A gradient boosting model for enhanced prediction accuracy.</a:t>
            </a:r>
            <a:endParaRPr sz="1150">
              <a:solidFill>
                <a:schemeClr val="dk1"/>
              </a:solidFill>
            </a:endParaRPr>
          </a:p>
          <a:p>
            <a:pPr indent="-301625" lvl="2" marL="1371600" rtl="0" algn="just">
              <a:spcBef>
                <a:spcPts val="0"/>
              </a:spcBef>
              <a:spcAft>
                <a:spcPts val="0"/>
              </a:spcAft>
              <a:buClr>
                <a:schemeClr val="dk1"/>
              </a:buClr>
              <a:buSzPts val="1150"/>
              <a:buChar char="■"/>
            </a:pPr>
            <a:r>
              <a:rPr b="1" lang="en" sz="1150">
                <a:solidFill>
                  <a:schemeClr val="dk1"/>
                </a:solidFill>
              </a:rPr>
              <a:t>Logistic Regression (LR):</a:t>
            </a:r>
            <a:r>
              <a:rPr lang="en" sz="1150">
                <a:solidFill>
                  <a:schemeClr val="dk1"/>
                </a:solidFill>
              </a:rPr>
              <a:t> A simple yet effective linear classifier for final fraud classification.</a:t>
            </a:r>
            <a:endParaRPr sz="1150">
              <a:solidFill>
                <a:schemeClr val="dk1"/>
              </a:solidFill>
            </a:endParaRPr>
          </a:p>
          <a:p>
            <a:pPr indent="-301625" lvl="2" marL="1371600" rtl="0" algn="just">
              <a:spcBef>
                <a:spcPts val="0"/>
              </a:spcBef>
              <a:spcAft>
                <a:spcPts val="0"/>
              </a:spcAft>
              <a:buClr>
                <a:schemeClr val="dk1"/>
              </a:buClr>
              <a:buSzPts val="1150"/>
              <a:buChar char="■"/>
            </a:pPr>
            <a:r>
              <a:rPr b="1" lang="en" sz="1150">
                <a:solidFill>
                  <a:schemeClr val="dk1"/>
                </a:solidFill>
              </a:rPr>
              <a:t>Naive Bayes (NB):</a:t>
            </a:r>
            <a:r>
              <a:rPr lang="en" sz="1150">
                <a:solidFill>
                  <a:schemeClr val="dk1"/>
                </a:solidFill>
              </a:rPr>
              <a:t> A probabilistic classifier suitable for structured data.</a:t>
            </a:r>
            <a:endParaRPr sz="1150">
              <a:solidFill>
                <a:schemeClr val="dk1"/>
              </a:solidFill>
            </a:endParaRPr>
          </a:p>
          <a:p>
            <a:pPr indent="0" lvl="0" marL="0" rtl="0" algn="l">
              <a:spcBef>
                <a:spcPts val="1200"/>
              </a:spcBef>
              <a:spcAft>
                <a:spcPts val="0"/>
              </a:spcAft>
              <a:buClr>
                <a:schemeClr val="dk1"/>
              </a:buClr>
              <a:buSzPts val="1100"/>
              <a:buFont typeface="Arial"/>
              <a:buNone/>
            </a:pPr>
            <a:r>
              <a:t/>
            </a:r>
            <a:endParaRPr sz="1250">
              <a:solidFill>
                <a:schemeClr val="dk1"/>
              </a:solidFill>
            </a:endParaRPr>
          </a:p>
          <a:p>
            <a:pPr indent="0" lvl="0" marL="0" rtl="0" algn="l">
              <a:spcBef>
                <a:spcPts val="0"/>
              </a:spcBef>
              <a:spcAft>
                <a:spcPts val="1200"/>
              </a:spcAft>
              <a:buNone/>
            </a:pPr>
            <a:r>
              <a:t/>
            </a:r>
            <a:endParaRPr b="1" sz="1250">
              <a:solidFill>
                <a:srgbClr val="2D3B45"/>
              </a:solidFill>
              <a:highlight>
                <a:srgbClr val="FFFFFF"/>
              </a:highlight>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idx="1" type="body"/>
          </p:nvPr>
        </p:nvSpPr>
        <p:spPr>
          <a:xfrm>
            <a:off x="113325" y="576250"/>
            <a:ext cx="8520600" cy="2097900"/>
          </a:xfrm>
          <a:prstGeom prst="rect">
            <a:avLst/>
          </a:prstGeom>
        </p:spPr>
        <p:txBody>
          <a:bodyPr anchorCtr="0" anchor="t" bIns="91425" lIns="91425" spcFirstLastPara="1" rIns="91425" wrap="square" tIns="91425">
            <a:noAutofit/>
          </a:bodyPr>
          <a:lstStyle/>
          <a:p>
            <a:pPr indent="-288925" lvl="0" marL="457200" rtl="0" algn="l">
              <a:lnSpc>
                <a:spcPct val="95000"/>
              </a:lnSpc>
              <a:spcBef>
                <a:spcPts val="1200"/>
              </a:spcBef>
              <a:spcAft>
                <a:spcPts val="0"/>
              </a:spcAft>
              <a:buClr>
                <a:schemeClr val="dk1"/>
              </a:buClr>
              <a:buSzPts val="950"/>
              <a:buAutoNum type="arabicPeriod"/>
            </a:pPr>
            <a:r>
              <a:rPr b="1" lang="en" sz="950">
                <a:solidFill>
                  <a:schemeClr val="dk1"/>
                </a:solidFill>
              </a:rPr>
              <a:t>Handling Class Imbalance</a:t>
            </a:r>
            <a:r>
              <a:rPr lang="en" sz="950">
                <a:solidFill>
                  <a:schemeClr val="dk1"/>
                </a:solidFill>
              </a:rPr>
              <a:t>:</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lang="en" sz="950">
                <a:solidFill>
                  <a:schemeClr val="dk1"/>
                </a:solidFill>
              </a:rPr>
              <a:t>Fraudulent transactions are a minority, often comprising less than 5% of the dataset.</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b="1" lang="en" sz="950">
                <a:solidFill>
                  <a:schemeClr val="dk1"/>
                </a:solidFill>
              </a:rPr>
              <a:t>Anomaly detection</a:t>
            </a:r>
            <a:r>
              <a:rPr lang="en" sz="950">
                <a:solidFill>
                  <a:schemeClr val="dk1"/>
                </a:solidFill>
              </a:rPr>
              <a:t> effectively identifies potential fraud cases without being biased toward the majority class (non-fraud).</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b="1" lang="en" sz="950">
                <a:solidFill>
                  <a:schemeClr val="dk1"/>
                </a:solidFill>
              </a:rPr>
              <a:t>SMOTE (Synthetic Minority Oversampling Technique)</a:t>
            </a:r>
            <a:r>
              <a:rPr lang="en" sz="950">
                <a:solidFill>
                  <a:schemeClr val="dk1"/>
                </a:solidFill>
              </a:rPr>
              <a:t> was used during supervised classification to further address class imbalance.</a:t>
            </a:r>
            <a:endParaRPr sz="950">
              <a:solidFill>
                <a:schemeClr val="dk1"/>
              </a:solidFill>
            </a:endParaRPr>
          </a:p>
          <a:p>
            <a:pPr indent="-288925" lvl="0" marL="457200" rtl="0" algn="l">
              <a:lnSpc>
                <a:spcPct val="95000"/>
              </a:lnSpc>
              <a:spcBef>
                <a:spcPts val="0"/>
              </a:spcBef>
              <a:spcAft>
                <a:spcPts val="0"/>
              </a:spcAft>
              <a:buClr>
                <a:schemeClr val="dk1"/>
              </a:buClr>
              <a:buSzPts val="950"/>
              <a:buAutoNum type="arabicPeriod"/>
            </a:pPr>
            <a:r>
              <a:rPr b="1" lang="en" sz="950">
                <a:solidFill>
                  <a:schemeClr val="dk1"/>
                </a:solidFill>
              </a:rPr>
              <a:t>Improved Detection Accuracy</a:t>
            </a:r>
            <a:r>
              <a:rPr lang="en" sz="950">
                <a:solidFill>
                  <a:schemeClr val="dk1"/>
                </a:solidFill>
              </a:rPr>
              <a:t>:</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lang="en" sz="950">
                <a:solidFill>
                  <a:schemeClr val="dk1"/>
                </a:solidFill>
              </a:rPr>
              <a:t>Combining anomaly detection with supervised classification enhances precision and recall.</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lang="en" sz="950">
                <a:solidFill>
                  <a:schemeClr val="dk1"/>
                </a:solidFill>
              </a:rPr>
              <a:t>Anomaly detection reduces the noise in the data by filtering out obvious non-fraud cases, allowing supervised classifiers to focus on a refined dataset.</a:t>
            </a:r>
            <a:endParaRPr sz="950">
              <a:solidFill>
                <a:schemeClr val="dk1"/>
              </a:solidFill>
            </a:endParaRPr>
          </a:p>
          <a:p>
            <a:pPr indent="-288925" lvl="0" marL="457200" rtl="0" algn="l">
              <a:lnSpc>
                <a:spcPct val="95000"/>
              </a:lnSpc>
              <a:spcBef>
                <a:spcPts val="0"/>
              </a:spcBef>
              <a:spcAft>
                <a:spcPts val="0"/>
              </a:spcAft>
              <a:buClr>
                <a:schemeClr val="dk1"/>
              </a:buClr>
              <a:buSzPts val="950"/>
              <a:buAutoNum type="arabicPeriod"/>
            </a:pPr>
            <a:r>
              <a:rPr b="1" lang="en" sz="950">
                <a:solidFill>
                  <a:schemeClr val="dk1"/>
                </a:solidFill>
              </a:rPr>
              <a:t>Model Flexibility and Scalability</a:t>
            </a:r>
            <a:r>
              <a:rPr lang="en" sz="950">
                <a:solidFill>
                  <a:schemeClr val="dk1"/>
                </a:solidFill>
              </a:rPr>
              <a:t>:</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lang="en" sz="950">
                <a:solidFill>
                  <a:schemeClr val="dk1"/>
                </a:solidFill>
              </a:rPr>
              <a:t>The hybrid approach allows for the experimentation and fine-tuning of different combinations:</a:t>
            </a:r>
            <a:endParaRPr sz="950">
              <a:solidFill>
                <a:schemeClr val="dk1"/>
              </a:solidFill>
            </a:endParaRPr>
          </a:p>
          <a:p>
            <a:pPr indent="-288925" lvl="2" marL="1371600" rtl="0" algn="l">
              <a:lnSpc>
                <a:spcPct val="95000"/>
              </a:lnSpc>
              <a:spcBef>
                <a:spcPts val="0"/>
              </a:spcBef>
              <a:spcAft>
                <a:spcPts val="0"/>
              </a:spcAft>
              <a:buClr>
                <a:schemeClr val="dk1"/>
              </a:buClr>
              <a:buSzPts val="950"/>
              <a:buChar char="■"/>
            </a:pPr>
            <a:r>
              <a:rPr b="1" lang="en" sz="950">
                <a:solidFill>
                  <a:schemeClr val="dk1"/>
                </a:solidFill>
              </a:rPr>
              <a:t>IF + RF:</a:t>
            </a:r>
            <a:r>
              <a:rPr lang="en" sz="950">
                <a:solidFill>
                  <a:schemeClr val="dk1"/>
                </a:solidFill>
              </a:rPr>
              <a:t> Balances precision and recall with high AUC-ROC.</a:t>
            </a:r>
            <a:endParaRPr sz="950">
              <a:solidFill>
                <a:schemeClr val="dk1"/>
              </a:solidFill>
            </a:endParaRPr>
          </a:p>
          <a:p>
            <a:pPr indent="-288925" lvl="2" marL="1371600" rtl="0" algn="l">
              <a:lnSpc>
                <a:spcPct val="95000"/>
              </a:lnSpc>
              <a:spcBef>
                <a:spcPts val="0"/>
              </a:spcBef>
              <a:spcAft>
                <a:spcPts val="0"/>
              </a:spcAft>
              <a:buClr>
                <a:schemeClr val="dk1"/>
              </a:buClr>
              <a:buSzPts val="950"/>
              <a:buChar char="■"/>
            </a:pPr>
            <a:r>
              <a:rPr b="1" lang="en" sz="950">
                <a:solidFill>
                  <a:schemeClr val="dk1"/>
                </a:solidFill>
              </a:rPr>
              <a:t>AE + XGBoost:</a:t>
            </a:r>
            <a:r>
              <a:rPr lang="en" sz="950">
                <a:solidFill>
                  <a:schemeClr val="dk1"/>
                </a:solidFill>
              </a:rPr>
              <a:t> Maximizes recall and AUC-ROC, making it ideal for environments prioritizing fraud detection.</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lang="en" sz="950">
                <a:solidFill>
                  <a:schemeClr val="dk1"/>
                </a:solidFill>
              </a:rPr>
              <a:t>Scalability of methods like Isolation Forest and XGBoost ensures applicability to large datasets.</a:t>
            </a:r>
            <a:endParaRPr sz="950">
              <a:solidFill>
                <a:schemeClr val="dk1"/>
              </a:solidFill>
            </a:endParaRPr>
          </a:p>
          <a:p>
            <a:pPr indent="-288925" lvl="0" marL="457200" rtl="0" algn="l">
              <a:lnSpc>
                <a:spcPct val="95000"/>
              </a:lnSpc>
              <a:spcBef>
                <a:spcPts val="0"/>
              </a:spcBef>
              <a:spcAft>
                <a:spcPts val="0"/>
              </a:spcAft>
              <a:buClr>
                <a:schemeClr val="dk1"/>
              </a:buClr>
              <a:buSzPts val="950"/>
              <a:buAutoNum type="arabicPeriod"/>
            </a:pPr>
            <a:r>
              <a:rPr b="1" lang="en" sz="950">
                <a:solidFill>
                  <a:schemeClr val="dk1"/>
                </a:solidFill>
              </a:rPr>
              <a:t>Interpretability and Practicality</a:t>
            </a:r>
            <a:r>
              <a:rPr lang="en" sz="950">
                <a:solidFill>
                  <a:schemeClr val="dk1"/>
                </a:solidFill>
              </a:rPr>
              <a:t>:</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lang="en" sz="950">
                <a:solidFill>
                  <a:schemeClr val="dk1"/>
                </a:solidFill>
              </a:rPr>
              <a:t>Models like Random Forest and Logistic Regression offer interpretability, essential for real-world applications.</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lang="en" sz="950">
                <a:solidFill>
                  <a:schemeClr val="dk1"/>
                </a:solidFill>
              </a:rPr>
              <a:t>Decision Trees (DT) and Logistic Regression (LR) allow decision-makers to understand the reasoning behind classifications.</a:t>
            </a:r>
            <a:endParaRPr sz="950">
              <a:solidFill>
                <a:schemeClr val="dk1"/>
              </a:solidFill>
            </a:endParaRPr>
          </a:p>
          <a:p>
            <a:pPr indent="-288925" lvl="0" marL="457200" rtl="0" algn="l">
              <a:lnSpc>
                <a:spcPct val="95000"/>
              </a:lnSpc>
              <a:spcBef>
                <a:spcPts val="0"/>
              </a:spcBef>
              <a:spcAft>
                <a:spcPts val="0"/>
              </a:spcAft>
              <a:buClr>
                <a:schemeClr val="dk1"/>
              </a:buClr>
              <a:buSzPts val="950"/>
              <a:buAutoNum type="arabicPeriod"/>
            </a:pPr>
            <a:r>
              <a:rPr b="1" lang="en" sz="950">
                <a:solidFill>
                  <a:schemeClr val="dk1"/>
                </a:solidFill>
              </a:rPr>
              <a:t>Efficiency and Computational Feasibility</a:t>
            </a:r>
            <a:r>
              <a:rPr lang="en" sz="950">
                <a:solidFill>
                  <a:schemeClr val="dk1"/>
                </a:solidFill>
              </a:rPr>
              <a:t>:</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lang="en" sz="950">
                <a:solidFill>
                  <a:schemeClr val="dk1"/>
                </a:solidFill>
              </a:rPr>
              <a:t>Anomaly detection methods like Isolation Forest and Autoencoders are computationally efficient and suitable for high-dimensional data.</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lang="en" sz="950">
                <a:solidFill>
                  <a:schemeClr val="dk1"/>
                </a:solidFill>
              </a:rPr>
              <a:t>The supervised classifiers are lightweight and optimized for real-time fraud detection scenarios.</a:t>
            </a:r>
            <a:endParaRPr sz="950">
              <a:solidFill>
                <a:schemeClr val="dk1"/>
              </a:solidFill>
            </a:endParaRPr>
          </a:p>
          <a:p>
            <a:pPr indent="-288925" lvl="0" marL="457200" rtl="0" algn="l">
              <a:lnSpc>
                <a:spcPct val="95000"/>
              </a:lnSpc>
              <a:spcBef>
                <a:spcPts val="0"/>
              </a:spcBef>
              <a:spcAft>
                <a:spcPts val="0"/>
              </a:spcAft>
              <a:buClr>
                <a:schemeClr val="dk1"/>
              </a:buClr>
              <a:buSzPts val="950"/>
              <a:buAutoNum type="arabicPeriod"/>
            </a:pPr>
            <a:r>
              <a:rPr b="1" lang="en" sz="950">
                <a:solidFill>
                  <a:schemeClr val="dk1"/>
                </a:solidFill>
              </a:rPr>
              <a:t>Addressing Real-World Challenges</a:t>
            </a:r>
            <a:r>
              <a:rPr lang="en" sz="950">
                <a:solidFill>
                  <a:schemeClr val="dk1"/>
                </a:solidFill>
              </a:rPr>
              <a:t>:</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b="1" lang="en" sz="950">
                <a:solidFill>
                  <a:schemeClr val="dk1"/>
                </a:solidFill>
              </a:rPr>
              <a:t>False Negatives:</a:t>
            </a:r>
            <a:r>
              <a:rPr lang="en" sz="950">
                <a:solidFill>
                  <a:schemeClr val="dk1"/>
                </a:solidFill>
              </a:rPr>
              <a:t> Anomaly detection ensures that fraudulent transactions are not overlooked, improving recall.</a:t>
            </a:r>
            <a:endParaRPr sz="950">
              <a:solidFill>
                <a:schemeClr val="dk1"/>
              </a:solidFill>
            </a:endParaRPr>
          </a:p>
          <a:p>
            <a:pPr indent="-288925" lvl="1" marL="914400" rtl="0" algn="l">
              <a:lnSpc>
                <a:spcPct val="95000"/>
              </a:lnSpc>
              <a:spcBef>
                <a:spcPts val="0"/>
              </a:spcBef>
              <a:spcAft>
                <a:spcPts val="0"/>
              </a:spcAft>
              <a:buClr>
                <a:schemeClr val="dk1"/>
              </a:buClr>
              <a:buSzPts val="950"/>
              <a:buChar char="○"/>
            </a:pPr>
            <a:r>
              <a:rPr b="1" lang="en" sz="950">
                <a:solidFill>
                  <a:schemeClr val="dk1"/>
                </a:solidFill>
              </a:rPr>
              <a:t>False Positives:</a:t>
            </a:r>
            <a:r>
              <a:rPr lang="en" sz="950">
                <a:solidFill>
                  <a:schemeClr val="dk1"/>
                </a:solidFill>
              </a:rPr>
              <a:t> Supervised classifiers refine the predictions, minimizing disruption to legitimate transactions.</a:t>
            </a:r>
            <a:endParaRPr sz="950">
              <a:solidFill>
                <a:schemeClr val="dk1"/>
              </a:solidFill>
            </a:endParaRPr>
          </a:p>
          <a:p>
            <a:pPr indent="0" lvl="0" marL="0" rtl="0" algn="just">
              <a:lnSpc>
                <a:spcPct val="95000"/>
              </a:lnSpc>
              <a:spcBef>
                <a:spcPts val="1400"/>
              </a:spcBef>
              <a:spcAft>
                <a:spcPts val="0"/>
              </a:spcAft>
              <a:buClr>
                <a:schemeClr val="dk1"/>
              </a:buClr>
              <a:buSzPts val="605"/>
              <a:buFont typeface="Arial"/>
              <a:buNone/>
            </a:pPr>
            <a:r>
              <a:rPr b="1" lang="en" sz="950">
                <a:solidFill>
                  <a:schemeClr val="dk1"/>
                </a:solidFill>
              </a:rPr>
              <a:t>Conclusion</a:t>
            </a:r>
            <a:endParaRPr b="1" sz="950">
              <a:solidFill>
                <a:schemeClr val="dk1"/>
              </a:solidFill>
            </a:endParaRPr>
          </a:p>
          <a:p>
            <a:pPr indent="0" lvl="0" marL="0" rtl="0" algn="just">
              <a:lnSpc>
                <a:spcPct val="95000"/>
              </a:lnSpc>
              <a:spcBef>
                <a:spcPts val="1200"/>
              </a:spcBef>
              <a:spcAft>
                <a:spcPts val="0"/>
              </a:spcAft>
              <a:buClr>
                <a:schemeClr val="dk1"/>
              </a:buClr>
              <a:buSzPts val="605"/>
              <a:buFont typeface="Arial"/>
              <a:buNone/>
            </a:pPr>
            <a:r>
              <a:rPr lang="en" sz="950">
                <a:solidFill>
                  <a:schemeClr val="dk1"/>
                </a:solidFill>
              </a:rPr>
              <a:t>The hybrid method is chosen because it balances the need for accurate fraud detection (high recall) and minimal disruption to genuine transactions (low false positives). By combining the strengths of anomaly detection and supervised classification, the method is robust, scalable, and suitable for real-world fraud detection scenarios.</a:t>
            </a:r>
            <a:endParaRPr sz="950">
              <a:solidFill>
                <a:schemeClr val="dk1"/>
              </a:solidFill>
            </a:endParaRPr>
          </a:p>
          <a:p>
            <a:pPr indent="0" lvl="0" marL="0" rtl="0" algn="l">
              <a:lnSpc>
                <a:spcPct val="95000"/>
              </a:lnSpc>
              <a:spcBef>
                <a:spcPts val="1200"/>
              </a:spcBef>
              <a:spcAft>
                <a:spcPts val="1200"/>
              </a:spcAft>
              <a:buSzPts val="605"/>
              <a:buNone/>
            </a:pPr>
            <a:r>
              <a:t/>
            </a:r>
            <a:endParaRPr sz="950"/>
          </a:p>
        </p:txBody>
      </p:sp>
      <p:sp>
        <p:nvSpPr>
          <p:cNvPr id="93" name="Google Shape;93;p19"/>
          <p:cNvSpPr txBox="1"/>
          <p:nvPr>
            <p:ph type="title"/>
          </p:nvPr>
        </p:nvSpPr>
        <p:spPr>
          <a:xfrm>
            <a:off x="452675"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900">
                <a:solidFill>
                  <a:srgbClr val="2D3B45"/>
                </a:solidFill>
                <a:highlight>
                  <a:srgbClr val="FFFFFF"/>
                </a:highlight>
              </a:rPr>
              <a:t>Justification of the Chosen Method</a:t>
            </a:r>
            <a:endParaRPr b="1" sz="2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920"/>
              <a:t>Model 1 - Isolation Forest + Random Forest</a:t>
            </a:r>
            <a:endParaRPr b="1" sz="2920"/>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8450" lvl="0" marL="457200" rtl="0" algn="l">
              <a:lnSpc>
                <a:spcPct val="95000"/>
              </a:lnSpc>
              <a:spcBef>
                <a:spcPts val="1200"/>
              </a:spcBef>
              <a:spcAft>
                <a:spcPts val="0"/>
              </a:spcAft>
              <a:buClr>
                <a:schemeClr val="dk1"/>
              </a:buClr>
              <a:buSzPts val="1100"/>
              <a:buChar char="●"/>
            </a:pPr>
            <a:r>
              <a:rPr b="1" lang="en" sz="1100">
                <a:solidFill>
                  <a:schemeClr val="dk1"/>
                </a:solidFill>
              </a:rPr>
              <a:t>Overview:</a:t>
            </a:r>
            <a:endParaRPr b="1" sz="1100">
              <a:solidFill>
                <a:schemeClr val="dk1"/>
              </a:solidFill>
            </a:endParaRPr>
          </a:p>
          <a:p>
            <a:pPr indent="-298450" lvl="1" marL="914400" rtl="0" algn="l">
              <a:lnSpc>
                <a:spcPct val="95000"/>
              </a:lnSpc>
              <a:spcBef>
                <a:spcPts val="0"/>
              </a:spcBef>
              <a:spcAft>
                <a:spcPts val="0"/>
              </a:spcAft>
              <a:buClr>
                <a:schemeClr val="dk1"/>
              </a:buClr>
              <a:buSzPts val="1100"/>
              <a:buChar char="○"/>
            </a:pPr>
            <a:r>
              <a:rPr b="1" lang="en" sz="1100">
                <a:solidFill>
                  <a:schemeClr val="dk1"/>
                </a:solidFill>
              </a:rPr>
              <a:t>Anomaly Detection:</a:t>
            </a:r>
            <a:r>
              <a:rPr lang="en" sz="1100">
                <a:solidFill>
                  <a:schemeClr val="dk1"/>
                </a:solidFill>
              </a:rPr>
              <a:t> Isolation Forest</a:t>
            </a:r>
            <a:endParaRPr sz="1100">
              <a:solidFill>
                <a:schemeClr val="dk1"/>
              </a:solidFill>
            </a:endParaRPr>
          </a:p>
          <a:p>
            <a:pPr indent="-298450" lvl="1" marL="914400" rtl="0" algn="l">
              <a:lnSpc>
                <a:spcPct val="95000"/>
              </a:lnSpc>
              <a:spcBef>
                <a:spcPts val="0"/>
              </a:spcBef>
              <a:spcAft>
                <a:spcPts val="0"/>
              </a:spcAft>
              <a:buClr>
                <a:schemeClr val="dk1"/>
              </a:buClr>
              <a:buSzPts val="1100"/>
              <a:buChar char="○"/>
            </a:pPr>
            <a:r>
              <a:rPr b="1" lang="en" sz="1100">
                <a:solidFill>
                  <a:schemeClr val="dk1"/>
                </a:solidFill>
              </a:rPr>
              <a:t>Supervised Classifier:</a:t>
            </a:r>
            <a:r>
              <a:rPr lang="en" sz="1100">
                <a:solidFill>
                  <a:schemeClr val="dk1"/>
                </a:solidFill>
              </a:rPr>
              <a:t> Random Forest</a:t>
            </a:r>
            <a:endParaRPr sz="1100">
              <a:solidFill>
                <a:schemeClr val="dk1"/>
              </a:solidFill>
            </a:endParaRPr>
          </a:p>
          <a:p>
            <a:pPr indent="-298450" lvl="0" marL="457200" rtl="0" algn="l">
              <a:lnSpc>
                <a:spcPct val="95000"/>
              </a:lnSpc>
              <a:spcBef>
                <a:spcPts val="0"/>
              </a:spcBef>
              <a:spcAft>
                <a:spcPts val="0"/>
              </a:spcAft>
              <a:buClr>
                <a:schemeClr val="dk1"/>
              </a:buClr>
              <a:buSzPts val="1100"/>
              <a:buChar char="●"/>
            </a:pPr>
            <a:r>
              <a:rPr b="1" lang="en" sz="1100">
                <a:solidFill>
                  <a:schemeClr val="dk1"/>
                </a:solidFill>
              </a:rPr>
              <a:t>Key Results:</a:t>
            </a:r>
            <a:endParaRPr b="1" sz="1100">
              <a:solidFill>
                <a:schemeClr val="dk1"/>
              </a:solidFill>
            </a:endParaRPr>
          </a:p>
          <a:p>
            <a:pPr indent="-298450" lvl="1" marL="914400" rtl="0" algn="l">
              <a:lnSpc>
                <a:spcPct val="95000"/>
              </a:lnSpc>
              <a:spcBef>
                <a:spcPts val="0"/>
              </a:spcBef>
              <a:spcAft>
                <a:spcPts val="0"/>
              </a:spcAft>
              <a:buClr>
                <a:schemeClr val="dk1"/>
              </a:buClr>
              <a:buSzPts val="1100"/>
              <a:buChar char="○"/>
            </a:pPr>
            <a:r>
              <a:rPr lang="en" sz="1100">
                <a:solidFill>
                  <a:schemeClr val="dk1"/>
                </a:solidFill>
              </a:rPr>
              <a:t>Accuracy: </a:t>
            </a:r>
            <a:r>
              <a:rPr b="1" lang="en" sz="1100">
                <a:solidFill>
                  <a:schemeClr val="dk1"/>
                </a:solidFill>
              </a:rPr>
              <a:t>98%</a:t>
            </a:r>
            <a:endParaRPr b="1" sz="1100">
              <a:solidFill>
                <a:schemeClr val="dk1"/>
              </a:solidFill>
            </a:endParaRPr>
          </a:p>
          <a:p>
            <a:pPr indent="-298450" lvl="1" marL="914400" rtl="0" algn="l">
              <a:lnSpc>
                <a:spcPct val="95000"/>
              </a:lnSpc>
              <a:spcBef>
                <a:spcPts val="0"/>
              </a:spcBef>
              <a:spcAft>
                <a:spcPts val="0"/>
              </a:spcAft>
              <a:buClr>
                <a:schemeClr val="dk1"/>
              </a:buClr>
              <a:buSzPts val="1100"/>
              <a:buChar char="○"/>
            </a:pPr>
            <a:r>
              <a:rPr lang="en" sz="1100">
                <a:solidFill>
                  <a:schemeClr val="dk1"/>
                </a:solidFill>
              </a:rPr>
              <a:t>Precision: </a:t>
            </a:r>
            <a:r>
              <a:rPr b="1" lang="en" sz="1100">
                <a:solidFill>
                  <a:schemeClr val="dk1"/>
                </a:solidFill>
              </a:rPr>
              <a:t>90%</a:t>
            </a:r>
            <a:endParaRPr b="1" sz="1100">
              <a:solidFill>
                <a:schemeClr val="dk1"/>
              </a:solidFill>
            </a:endParaRPr>
          </a:p>
          <a:p>
            <a:pPr indent="-298450" lvl="1" marL="914400" rtl="0" algn="l">
              <a:lnSpc>
                <a:spcPct val="95000"/>
              </a:lnSpc>
              <a:spcBef>
                <a:spcPts val="0"/>
              </a:spcBef>
              <a:spcAft>
                <a:spcPts val="0"/>
              </a:spcAft>
              <a:buClr>
                <a:schemeClr val="dk1"/>
              </a:buClr>
              <a:buSzPts val="1100"/>
              <a:buChar char="○"/>
            </a:pPr>
            <a:r>
              <a:rPr lang="en" sz="1100">
                <a:solidFill>
                  <a:schemeClr val="dk1"/>
                </a:solidFill>
              </a:rPr>
              <a:t>Recall: </a:t>
            </a:r>
            <a:r>
              <a:rPr b="1" lang="en" sz="1100">
                <a:solidFill>
                  <a:schemeClr val="dk1"/>
                </a:solidFill>
              </a:rPr>
              <a:t>32%</a:t>
            </a:r>
            <a:endParaRPr b="1" sz="1100">
              <a:solidFill>
                <a:schemeClr val="dk1"/>
              </a:solidFill>
            </a:endParaRPr>
          </a:p>
          <a:p>
            <a:pPr indent="-298450" lvl="1" marL="914400" rtl="0" algn="l">
              <a:lnSpc>
                <a:spcPct val="95000"/>
              </a:lnSpc>
              <a:spcBef>
                <a:spcPts val="0"/>
              </a:spcBef>
              <a:spcAft>
                <a:spcPts val="0"/>
              </a:spcAft>
              <a:buClr>
                <a:schemeClr val="dk1"/>
              </a:buClr>
              <a:buSzPts val="1100"/>
              <a:buChar char="○"/>
            </a:pPr>
            <a:r>
              <a:rPr lang="en" sz="1100">
                <a:solidFill>
                  <a:schemeClr val="dk1"/>
                </a:solidFill>
              </a:rPr>
              <a:t>F1 Score: </a:t>
            </a:r>
            <a:r>
              <a:rPr b="1" lang="en" sz="1100">
                <a:solidFill>
                  <a:schemeClr val="dk1"/>
                </a:solidFill>
              </a:rPr>
              <a:t>47%</a:t>
            </a:r>
            <a:endParaRPr b="1" sz="1100">
              <a:solidFill>
                <a:schemeClr val="dk1"/>
              </a:solidFill>
            </a:endParaRPr>
          </a:p>
          <a:p>
            <a:pPr indent="-298450" lvl="1" marL="914400" rtl="0" algn="l">
              <a:lnSpc>
                <a:spcPct val="95000"/>
              </a:lnSpc>
              <a:spcBef>
                <a:spcPts val="0"/>
              </a:spcBef>
              <a:spcAft>
                <a:spcPts val="0"/>
              </a:spcAft>
              <a:buClr>
                <a:schemeClr val="dk1"/>
              </a:buClr>
              <a:buSzPts val="1100"/>
              <a:buChar char="○"/>
            </a:pPr>
            <a:r>
              <a:rPr lang="en" sz="1100">
                <a:solidFill>
                  <a:schemeClr val="dk1"/>
                </a:solidFill>
              </a:rPr>
              <a:t>AUC-ROC: </a:t>
            </a:r>
            <a:r>
              <a:rPr b="1" lang="en" sz="1100">
                <a:solidFill>
                  <a:schemeClr val="dk1"/>
                </a:solidFill>
              </a:rPr>
              <a:t>89%</a:t>
            </a:r>
            <a:endParaRPr b="1" sz="1100">
              <a:solidFill>
                <a:schemeClr val="dk1"/>
              </a:solidFill>
            </a:endParaRPr>
          </a:p>
          <a:p>
            <a:pPr indent="-298450" lvl="0" marL="457200" rtl="0" algn="l">
              <a:lnSpc>
                <a:spcPct val="95000"/>
              </a:lnSpc>
              <a:spcBef>
                <a:spcPts val="0"/>
              </a:spcBef>
              <a:spcAft>
                <a:spcPts val="0"/>
              </a:spcAft>
              <a:buClr>
                <a:schemeClr val="dk1"/>
              </a:buClr>
              <a:buSzPts val="1100"/>
              <a:buChar char="●"/>
            </a:pPr>
            <a:r>
              <a:rPr b="1" lang="en" sz="1100">
                <a:solidFill>
                  <a:schemeClr val="dk1"/>
                </a:solidFill>
              </a:rPr>
              <a:t>Insights:</a:t>
            </a:r>
            <a:endParaRPr b="1" sz="1100">
              <a:solidFill>
                <a:schemeClr val="dk1"/>
              </a:solidFill>
            </a:endParaRPr>
          </a:p>
          <a:p>
            <a:pPr indent="-298450" lvl="1" marL="914400" rtl="0" algn="l">
              <a:lnSpc>
                <a:spcPct val="95000"/>
              </a:lnSpc>
              <a:spcBef>
                <a:spcPts val="0"/>
              </a:spcBef>
              <a:spcAft>
                <a:spcPts val="0"/>
              </a:spcAft>
              <a:buClr>
                <a:schemeClr val="dk1"/>
              </a:buClr>
              <a:buSzPts val="1100"/>
              <a:buChar char="○"/>
            </a:pPr>
            <a:r>
              <a:rPr lang="en" sz="1100">
                <a:solidFill>
                  <a:schemeClr val="dk1"/>
                </a:solidFill>
              </a:rPr>
              <a:t>High precision and accuracy demonstrate the model's ability to correctly classify most non-fraudulent transactions.</a:t>
            </a:r>
            <a:endParaRPr sz="1100">
              <a:solidFill>
                <a:schemeClr val="dk1"/>
              </a:solidFill>
            </a:endParaRPr>
          </a:p>
          <a:p>
            <a:pPr indent="-298450" lvl="1" marL="914400" rtl="0" algn="l">
              <a:lnSpc>
                <a:spcPct val="95000"/>
              </a:lnSpc>
              <a:spcBef>
                <a:spcPts val="0"/>
              </a:spcBef>
              <a:spcAft>
                <a:spcPts val="0"/>
              </a:spcAft>
              <a:buClr>
                <a:schemeClr val="dk1"/>
              </a:buClr>
              <a:buSzPts val="1100"/>
              <a:buChar char="○"/>
            </a:pPr>
            <a:r>
              <a:rPr lang="en" sz="1100">
                <a:solidFill>
                  <a:schemeClr val="dk1"/>
                </a:solidFill>
              </a:rPr>
              <a:t>Moderate recall shows some challenges in detecting fraudulent transactions.</a:t>
            </a:r>
            <a:endParaRPr sz="1100">
              <a:solidFill>
                <a:schemeClr val="dk1"/>
              </a:solidFill>
            </a:endParaRPr>
          </a:p>
          <a:p>
            <a:pPr indent="-298450" lvl="1" marL="914400" rtl="0" algn="l">
              <a:lnSpc>
                <a:spcPct val="95000"/>
              </a:lnSpc>
              <a:spcBef>
                <a:spcPts val="0"/>
              </a:spcBef>
              <a:spcAft>
                <a:spcPts val="0"/>
              </a:spcAft>
              <a:buClr>
                <a:schemeClr val="dk1"/>
              </a:buClr>
              <a:buSzPts val="1100"/>
              <a:buChar char="○"/>
            </a:pPr>
            <a:r>
              <a:rPr lang="en" sz="1100">
                <a:solidFill>
                  <a:schemeClr val="dk1"/>
                </a:solidFill>
              </a:rPr>
              <a:t>A strong F1 Score and AUC-ROC indicate a good balance of precision and recall.</a:t>
            </a:r>
            <a:endParaRPr sz="1100">
              <a:solidFill>
                <a:schemeClr val="dk1"/>
              </a:solidFill>
            </a:endParaRPr>
          </a:p>
          <a:p>
            <a:pPr indent="0" lvl="0" marL="0" rtl="0" algn="l">
              <a:lnSpc>
                <a:spcPct val="95000"/>
              </a:lnSpc>
              <a:spcBef>
                <a:spcPts val="1200"/>
              </a:spcBef>
              <a:spcAft>
                <a:spcPts val="0"/>
              </a:spcAft>
              <a:buSzPts val="852"/>
              <a:buNone/>
            </a:pPr>
            <a:r>
              <a:rPr b="1" lang="en" sz="1100">
                <a:solidFill>
                  <a:schemeClr val="dk1"/>
                </a:solidFill>
              </a:rPr>
              <a:t>Visuals:</a:t>
            </a:r>
            <a:endParaRPr b="1" sz="1100">
              <a:solidFill>
                <a:schemeClr val="dk1"/>
              </a:solidFill>
            </a:endParaRPr>
          </a:p>
          <a:p>
            <a:pPr indent="-298450" lvl="0" marL="457200" rtl="0" algn="l">
              <a:lnSpc>
                <a:spcPct val="95000"/>
              </a:lnSpc>
              <a:spcBef>
                <a:spcPts val="1200"/>
              </a:spcBef>
              <a:spcAft>
                <a:spcPts val="0"/>
              </a:spcAft>
              <a:buClr>
                <a:schemeClr val="dk1"/>
              </a:buClr>
              <a:buSzPts val="1100"/>
              <a:buAutoNum type="arabicPeriod"/>
            </a:pPr>
            <a:r>
              <a:rPr b="1" lang="en" sz="1100">
                <a:solidFill>
                  <a:schemeClr val="dk1"/>
                </a:solidFill>
              </a:rPr>
              <a:t>Confusion Matrix:</a:t>
            </a:r>
            <a:endParaRPr sz="1100">
              <a:solidFill>
                <a:schemeClr val="dk1"/>
              </a:solidFill>
            </a:endParaRPr>
          </a:p>
          <a:p>
            <a:pPr indent="-298450" lvl="1" marL="914400" rtl="0" algn="l">
              <a:lnSpc>
                <a:spcPct val="95000"/>
              </a:lnSpc>
              <a:spcBef>
                <a:spcPts val="0"/>
              </a:spcBef>
              <a:spcAft>
                <a:spcPts val="0"/>
              </a:spcAft>
              <a:buClr>
                <a:schemeClr val="dk1"/>
              </a:buClr>
              <a:buSzPts val="1100"/>
              <a:buChar char="○"/>
            </a:pPr>
            <a:r>
              <a:rPr lang="en" sz="1100">
                <a:solidFill>
                  <a:schemeClr val="dk1"/>
                </a:solidFill>
              </a:rPr>
              <a:t>Non-Fraud: Correctly classified: </a:t>
            </a:r>
            <a:r>
              <a:rPr b="1" lang="en" sz="1100">
                <a:solidFill>
                  <a:schemeClr val="dk1"/>
                </a:solidFill>
              </a:rPr>
              <a:t>110,753</a:t>
            </a:r>
            <a:r>
              <a:rPr lang="en" sz="1100">
                <a:solidFill>
                  <a:schemeClr val="dk1"/>
                </a:solidFill>
              </a:rPr>
              <a:t>, Misclassified: </a:t>
            </a:r>
            <a:r>
              <a:rPr b="1" lang="en" sz="1100">
                <a:solidFill>
                  <a:schemeClr val="dk1"/>
                </a:solidFill>
              </a:rPr>
              <a:t>117</a:t>
            </a:r>
            <a:endParaRPr b="1" sz="1100">
              <a:solidFill>
                <a:schemeClr val="dk1"/>
              </a:solidFill>
            </a:endParaRPr>
          </a:p>
          <a:p>
            <a:pPr indent="-298450" lvl="1" marL="914400" rtl="0" algn="l">
              <a:lnSpc>
                <a:spcPct val="95000"/>
              </a:lnSpc>
              <a:spcBef>
                <a:spcPts val="0"/>
              </a:spcBef>
              <a:spcAft>
                <a:spcPts val="0"/>
              </a:spcAft>
              <a:buClr>
                <a:schemeClr val="dk1"/>
              </a:buClr>
              <a:buSzPts val="1100"/>
              <a:buChar char="○"/>
            </a:pPr>
            <a:r>
              <a:rPr lang="en" sz="1100">
                <a:solidFill>
                  <a:schemeClr val="dk1"/>
                </a:solidFill>
              </a:rPr>
              <a:t>Fraud: Correctly classified: </a:t>
            </a:r>
            <a:r>
              <a:rPr b="1" lang="en" sz="1100">
                <a:solidFill>
                  <a:schemeClr val="dk1"/>
                </a:solidFill>
              </a:rPr>
              <a:t>998</a:t>
            </a:r>
            <a:r>
              <a:rPr lang="en" sz="1100">
                <a:solidFill>
                  <a:schemeClr val="dk1"/>
                </a:solidFill>
              </a:rPr>
              <a:t>, Misclassified: </a:t>
            </a:r>
            <a:r>
              <a:rPr b="1" lang="en" sz="1100">
                <a:solidFill>
                  <a:schemeClr val="dk1"/>
                </a:solidFill>
              </a:rPr>
              <a:t>2,107</a:t>
            </a:r>
            <a:endParaRPr b="1" sz="1100">
              <a:solidFill>
                <a:schemeClr val="dk1"/>
              </a:solidFill>
            </a:endParaRPr>
          </a:p>
          <a:p>
            <a:pPr indent="-298450" lvl="0" marL="457200" rtl="0" algn="l">
              <a:lnSpc>
                <a:spcPct val="95000"/>
              </a:lnSpc>
              <a:spcBef>
                <a:spcPts val="0"/>
              </a:spcBef>
              <a:spcAft>
                <a:spcPts val="0"/>
              </a:spcAft>
              <a:buClr>
                <a:schemeClr val="dk1"/>
              </a:buClr>
              <a:buSzPts val="1100"/>
              <a:buAutoNum type="arabicPeriod"/>
            </a:pPr>
            <a:r>
              <a:rPr b="1" lang="en" sz="1100">
                <a:solidFill>
                  <a:schemeClr val="dk1"/>
                </a:solidFill>
              </a:rPr>
              <a:t>Performance Metrics Bar Chart:</a:t>
            </a:r>
            <a:r>
              <a:rPr lang="en" sz="1100">
                <a:solidFill>
                  <a:schemeClr val="dk1"/>
                </a:solidFill>
              </a:rPr>
              <a:t> </a:t>
            </a:r>
            <a:endParaRPr sz="1100">
              <a:solidFill>
                <a:schemeClr val="dk1"/>
              </a:solidFill>
            </a:endParaRPr>
          </a:p>
          <a:p>
            <a:pPr indent="0" lvl="0" marL="0" rtl="0" algn="l">
              <a:lnSpc>
                <a:spcPct val="95000"/>
              </a:lnSpc>
              <a:spcBef>
                <a:spcPts val="1200"/>
              </a:spcBef>
              <a:spcAft>
                <a:spcPts val="0"/>
              </a:spcAft>
              <a:buSzPts val="852"/>
              <a:buNone/>
            </a:pPr>
            <a:r>
              <a:t/>
            </a:r>
            <a:endParaRPr b="1" sz="1100">
              <a:solidFill>
                <a:schemeClr val="dk1"/>
              </a:solidFill>
            </a:endParaRPr>
          </a:p>
          <a:p>
            <a:pPr indent="0" lvl="0" marL="0" rtl="0" algn="l">
              <a:lnSpc>
                <a:spcPct val="95000"/>
              </a:lnSpc>
              <a:spcBef>
                <a:spcPts val="0"/>
              </a:spcBef>
              <a:spcAft>
                <a:spcPts val="1200"/>
              </a:spcAft>
              <a:buSzPts val="852"/>
              <a:buNone/>
            </a:pPr>
            <a:r>
              <a:t/>
            </a:r>
            <a:endParaRPr sz="1100"/>
          </a:p>
        </p:txBody>
      </p:sp>
      <p:pic>
        <p:nvPicPr>
          <p:cNvPr id="100" name="Google Shape;100;p20"/>
          <p:cNvPicPr preferRelativeResize="0"/>
          <p:nvPr/>
        </p:nvPicPr>
        <p:blipFill>
          <a:blip r:embed="rId3">
            <a:alphaModFix/>
          </a:blip>
          <a:stretch>
            <a:fillRect/>
          </a:stretch>
        </p:blipFill>
        <p:spPr>
          <a:xfrm>
            <a:off x="4062125" y="936000"/>
            <a:ext cx="4155651" cy="1908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7" name="Google Shape;107;p21"/>
          <p:cNvPicPr preferRelativeResize="0"/>
          <p:nvPr/>
        </p:nvPicPr>
        <p:blipFill>
          <a:blip r:embed="rId3">
            <a:alphaModFix/>
          </a:blip>
          <a:stretch>
            <a:fillRect/>
          </a:stretch>
        </p:blipFill>
        <p:spPr>
          <a:xfrm>
            <a:off x="311700" y="445025"/>
            <a:ext cx="4613701" cy="4525824"/>
          </a:xfrm>
          <a:prstGeom prst="rect">
            <a:avLst/>
          </a:prstGeom>
          <a:noFill/>
          <a:ln>
            <a:noFill/>
          </a:ln>
        </p:spPr>
      </p:pic>
      <p:pic>
        <p:nvPicPr>
          <p:cNvPr id="108" name="Google Shape;108;p21"/>
          <p:cNvPicPr preferRelativeResize="0"/>
          <p:nvPr/>
        </p:nvPicPr>
        <p:blipFill>
          <a:blip r:embed="rId4">
            <a:alphaModFix/>
          </a:blip>
          <a:stretch>
            <a:fillRect/>
          </a:stretch>
        </p:blipFill>
        <p:spPr>
          <a:xfrm>
            <a:off x="4827325" y="441275"/>
            <a:ext cx="4004974" cy="42609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920"/>
              <a:t>Model 2 - Isolation Forest + Naive Bayes</a:t>
            </a:r>
            <a:endParaRPr b="1" sz="2920"/>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2100" lvl="0" marL="457200" rtl="0" algn="l">
              <a:spcBef>
                <a:spcPts val="1200"/>
              </a:spcBef>
              <a:spcAft>
                <a:spcPts val="0"/>
              </a:spcAft>
              <a:buClr>
                <a:schemeClr val="dk1"/>
              </a:buClr>
              <a:buSzPts val="1000"/>
              <a:buChar char="●"/>
            </a:pPr>
            <a:r>
              <a:rPr b="1" lang="en" sz="1000">
                <a:solidFill>
                  <a:schemeClr val="dk1"/>
                </a:solidFill>
              </a:rPr>
              <a:t>Overview:</a:t>
            </a:r>
            <a:endParaRPr b="1" sz="1000">
              <a:solidFill>
                <a:schemeClr val="dk1"/>
              </a:solidFill>
            </a:endParaRPr>
          </a:p>
          <a:p>
            <a:pPr indent="-292100" lvl="1" marL="914400" rtl="0" algn="l">
              <a:spcBef>
                <a:spcPts val="0"/>
              </a:spcBef>
              <a:spcAft>
                <a:spcPts val="0"/>
              </a:spcAft>
              <a:buClr>
                <a:schemeClr val="dk1"/>
              </a:buClr>
              <a:buSzPts val="1000"/>
              <a:buChar char="○"/>
            </a:pPr>
            <a:r>
              <a:rPr b="1" lang="en" sz="1000">
                <a:solidFill>
                  <a:schemeClr val="dk1"/>
                </a:solidFill>
              </a:rPr>
              <a:t>Anomaly Detection:</a:t>
            </a:r>
            <a:r>
              <a:rPr lang="en" sz="1000">
                <a:solidFill>
                  <a:schemeClr val="dk1"/>
                </a:solidFill>
              </a:rPr>
              <a:t> Isolation Forest</a:t>
            </a:r>
            <a:endParaRPr sz="1000">
              <a:solidFill>
                <a:schemeClr val="dk1"/>
              </a:solidFill>
            </a:endParaRPr>
          </a:p>
          <a:p>
            <a:pPr indent="-292100" lvl="1" marL="914400" rtl="0" algn="l">
              <a:spcBef>
                <a:spcPts val="0"/>
              </a:spcBef>
              <a:spcAft>
                <a:spcPts val="0"/>
              </a:spcAft>
              <a:buClr>
                <a:schemeClr val="dk1"/>
              </a:buClr>
              <a:buSzPts val="1000"/>
              <a:buChar char="○"/>
            </a:pPr>
            <a:r>
              <a:rPr b="1" lang="en" sz="1000">
                <a:solidFill>
                  <a:schemeClr val="dk1"/>
                </a:solidFill>
              </a:rPr>
              <a:t>Supervised Classifier:</a:t>
            </a:r>
            <a:r>
              <a:rPr lang="en" sz="1000">
                <a:solidFill>
                  <a:schemeClr val="dk1"/>
                </a:solidFill>
              </a:rPr>
              <a:t> Naive Bayes</a:t>
            </a:r>
            <a:endParaRPr sz="1000">
              <a:solidFill>
                <a:schemeClr val="dk1"/>
              </a:solidFill>
            </a:endParaRPr>
          </a:p>
          <a:p>
            <a:pPr indent="-292100" lvl="0" marL="457200" rtl="0" algn="l">
              <a:spcBef>
                <a:spcPts val="0"/>
              </a:spcBef>
              <a:spcAft>
                <a:spcPts val="0"/>
              </a:spcAft>
              <a:buClr>
                <a:schemeClr val="dk1"/>
              </a:buClr>
              <a:buSzPts val="1000"/>
              <a:buChar char="●"/>
            </a:pPr>
            <a:r>
              <a:rPr b="1" lang="en" sz="1000">
                <a:solidFill>
                  <a:schemeClr val="dk1"/>
                </a:solidFill>
              </a:rPr>
              <a:t>Key Results:</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Accuracy: </a:t>
            </a:r>
            <a:r>
              <a:rPr b="1" lang="en" sz="1000">
                <a:solidFill>
                  <a:schemeClr val="dk1"/>
                </a:solidFill>
              </a:rPr>
              <a:t>95%</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Precision: </a:t>
            </a:r>
            <a:r>
              <a:rPr b="1" lang="en" sz="1000">
                <a:solidFill>
                  <a:schemeClr val="dk1"/>
                </a:solidFill>
              </a:rPr>
              <a:t>9%</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Recall: </a:t>
            </a:r>
            <a:r>
              <a:rPr b="1" lang="en" sz="1000">
                <a:solidFill>
                  <a:schemeClr val="dk1"/>
                </a:solidFill>
              </a:rPr>
              <a:t>5%</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F1 Score: </a:t>
            </a:r>
            <a:r>
              <a:rPr b="1" lang="en" sz="1000">
                <a:solidFill>
                  <a:schemeClr val="dk1"/>
                </a:solidFill>
              </a:rPr>
              <a:t>7%</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AUC-ROC: </a:t>
            </a:r>
            <a:r>
              <a:rPr b="1" lang="en" sz="1000">
                <a:solidFill>
                  <a:schemeClr val="dk1"/>
                </a:solidFill>
              </a:rPr>
              <a:t>71%</a:t>
            </a:r>
            <a:endParaRPr b="1" sz="1000">
              <a:solidFill>
                <a:schemeClr val="dk1"/>
              </a:solidFill>
            </a:endParaRPr>
          </a:p>
          <a:p>
            <a:pPr indent="-292100" lvl="0" marL="457200" rtl="0" algn="l">
              <a:spcBef>
                <a:spcPts val="0"/>
              </a:spcBef>
              <a:spcAft>
                <a:spcPts val="0"/>
              </a:spcAft>
              <a:buClr>
                <a:schemeClr val="dk1"/>
              </a:buClr>
              <a:buSzPts val="1000"/>
              <a:buChar char="●"/>
            </a:pPr>
            <a:r>
              <a:rPr b="1" lang="en" sz="1000">
                <a:solidFill>
                  <a:schemeClr val="dk1"/>
                </a:solidFill>
              </a:rPr>
              <a:t>Insights:</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High accuracy reflects the model’s effectiveness in identifying non-fraudulent transactions.</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Extremely low precision and recall indicate poor fraud detection capability.</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Highlights Naive Bayes' limitations when paired with Isolation Forest for this use case.</a:t>
            </a:r>
            <a:endParaRPr sz="1000">
              <a:solidFill>
                <a:schemeClr val="dk1"/>
              </a:solidFill>
            </a:endParaRPr>
          </a:p>
          <a:p>
            <a:pPr indent="0" lvl="0" marL="0" rtl="0" algn="l">
              <a:spcBef>
                <a:spcPts val="1200"/>
              </a:spcBef>
              <a:spcAft>
                <a:spcPts val="0"/>
              </a:spcAft>
              <a:buNone/>
            </a:pPr>
            <a:r>
              <a:rPr b="1" lang="en" sz="1000">
                <a:solidFill>
                  <a:schemeClr val="dk1"/>
                </a:solidFill>
              </a:rPr>
              <a:t>Visuals:</a:t>
            </a:r>
            <a:endParaRPr b="1" sz="1000">
              <a:solidFill>
                <a:schemeClr val="dk1"/>
              </a:solidFill>
            </a:endParaRPr>
          </a:p>
          <a:p>
            <a:pPr indent="-292100" lvl="0" marL="457200" rtl="0" algn="l">
              <a:spcBef>
                <a:spcPts val="1200"/>
              </a:spcBef>
              <a:spcAft>
                <a:spcPts val="0"/>
              </a:spcAft>
              <a:buClr>
                <a:schemeClr val="dk1"/>
              </a:buClr>
              <a:buSzPts val="1000"/>
              <a:buAutoNum type="arabicPeriod"/>
            </a:pPr>
            <a:r>
              <a:rPr b="1" lang="en" sz="1000">
                <a:solidFill>
                  <a:schemeClr val="dk1"/>
                </a:solidFill>
              </a:rPr>
              <a:t>Confusion Matrix:</a:t>
            </a:r>
            <a:r>
              <a:rPr lang="en" sz="1000">
                <a:solidFill>
                  <a:schemeClr val="dk1"/>
                </a:solidFill>
              </a:rPr>
              <a:t> </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Non-Fraud: Correctly classified: </a:t>
            </a:r>
            <a:r>
              <a:rPr b="1" lang="en" sz="1000">
                <a:solidFill>
                  <a:schemeClr val="dk1"/>
                </a:solidFill>
              </a:rPr>
              <a:t>111,759</a:t>
            </a:r>
            <a:r>
              <a:rPr lang="en" sz="1000">
                <a:solidFill>
                  <a:schemeClr val="dk1"/>
                </a:solidFill>
              </a:rPr>
              <a:t>, Misclassified: </a:t>
            </a:r>
            <a:r>
              <a:rPr b="1" lang="en" sz="1000">
                <a:solidFill>
                  <a:schemeClr val="dk1"/>
                </a:solidFill>
              </a:rPr>
              <a:t>2,107</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Fraud: Correctly classified: </a:t>
            </a:r>
            <a:r>
              <a:rPr b="1" lang="en" sz="1000">
                <a:solidFill>
                  <a:schemeClr val="dk1"/>
                </a:solidFill>
              </a:rPr>
              <a:t>221</a:t>
            </a:r>
            <a:r>
              <a:rPr lang="en" sz="1000">
                <a:solidFill>
                  <a:schemeClr val="dk1"/>
                </a:solidFill>
              </a:rPr>
              <a:t>, Misclassified: </a:t>
            </a:r>
            <a:r>
              <a:rPr b="1" lang="en" sz="1000">
                <a:solidFill>
                  <a:schemeClr val="dk1"/>
                </a:solidFill>
              </a:rPr>
              <a:t>4,021</a:t>
            </a:r>
            <a:endParaRPr b="1" sz="1000">
              <a:solidFill>
                <a:schemeClr val="dk1"/>
              </a:solidFill>
            </a:endParaRPr>
          </a:p>
          <a:p>
            <a:pPr indent="-292100" lvl="0" marL="457200" rtl="0" algn="l">
              <a:spcBef>
                <a:spcPts val="0"/>
              </a:spcBef>
              <a:spcAft>
                <a:spcPts val="0"/>
              </a:spcAft>
              <a:buClr>
                <a:schemeClr val="dk1"/>
              </a:buClr>
              <a:buSzPts val="1000"/>
              <a:buAutoNum type="arabicPeriod"/>
            </a:pPr>
            <a:r>
              <a:rPr b="1" lang="en" sz="1000">
                <a:solidFill>
                  <a:schemeClr val="dk1"/>
                </a:solidFill>
              </a:rPr>
              <a:t>Performance Metrics Bar Chart:</a:t>
            </a:r>
            <a:endParaRPr sz="1000"/>
          </a:p>
        </p:txBody>
      </p:sp>
      <p:pic>
        <p:nvPicPr>
          <p:cNvPr id="115" name="Google Shape;115;p22"/>
          <p:cNvPicPr preferRelativeResize="0"/>
          <p:nvPr/>
        </p:nvPicPr>
        <p:blipFill>
          <a:blip r:embed="rId3">
            <a:alphaModFix/>
          </a:blip>
          <a:stretch>
            <a:fillRect/>
          </a:stretch>
        </p:blipFill>
        <p:spPr>
          <a:xfrm>
            <a:off x="4917575" y="1017725"/>
            <a:ext cx="3787501" cy="1799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1" name="Google Shape;12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2" name="Google Shape;122;p23"/>
          <p:cNvPicPr preferRelativeResize="0"/>
          <p:nvPr/>
        </p:nvPicPr>
        <p:blipFill>
          <a:blip r:embed="rId3">
            <a:alphaModFix/>
          </a:blip>
          <a:stretch>
            <a:fillRect/>
          </a:stretch>
        </p:blipFill>
        <p:spPr>
          <a:xfrm>
            <a:off x="311700" y="445025"/>
            <a:ext cx="4341076" cy="4443775"/>
          </a:xfrm>
          <a:prstGeom prst="rect">
            <a:avLst/>
          </a:prstGeom>
          <a:noFill/>
          <a:ln>
            <a:noFill/>
          </a:ln>
        </p:spPr>
      </p:pic>
      <p:pic>
        <p:nvPicPr>
          <p:cNvPr id="123" name="Google Shape;123;p23"/>
          <p:cNvPicPr preferRelativeResize="0"/>
          <p:nvPr/>
        </p:nvPicPr>
        <p:blipFill>
          <a:blip r:embed="rId4">
            <a:alphaModFix/>
          </a:blip>
          <a:stretch>
            <a:fillRect/>
          </a:stretch>
        </p:blipFill>
        <p:spPr>
          <a:xfrm>
            <a:off x="4491225" y="517738"/>
            <a:ext cx="4341075" cy="4298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920"/>
              <a:t>Model 3 - Autoencoder + XGBoost</a:t>
            </a:r>
            <a:endParaRPr b="1" sz="2920"/>
          </a:p>
        </p:txBody>
      </p:sp>
      <p:sp>
        <p:nvSpPr>
          <p:cNvPr id="129" name="Google Shape;129;p2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2100" lvl="0" marL="457200" rtl="0" algn="l">
              <a:spcBef>
                <a:spcPts val="1200"/>
              </a:spcBef>
              <a:spcAft>
                <a:spcPts val="0"/>
              </a:spcAft>
              <a:buClr>
                <a:schemeClr val="dk1"/>
              </a:buClr>
              <a:buSzPts val="1000"/>
              <a:buChar char="●"/>
            </a:pPr>
            <a:r>
              <a:rPr b="1" lang="en" sz="1000">
                <a:solidFill>
                  <a:schemeClr val="dk1"/>
                </a:solidFill>
              </a:rPr>
              <a:t>Overview:</a:t>
            </a:r>
            <a:endParaRPr b="1" sz="1000">
              <a:solidFill>
                <a:schemeClr val="dk1"/>
              </a:solidFill>
            </a:endParaRPr>
          </a:p>
          <a:p>
            <a:pPr indent="-292100" lvl="1" marL="914400" rtl="0" algn="l">
              <a:spcBef>
                <a:spcPts val="0"/>
              </a:spcBef>
              <a:spcAft>
                <a:spcPts val="0"/>
              </a:spcAft>
              <a:buClr>
                <a:schemeClr val="dk1"/>
              </a:buClr>
              <a:buSzPts val="1000"/>
              <a:buChar char="○"/>
            </a:pPr>
            <a:r>
              <a:rPr b="1" lang="en" sz="1000">
                <a:solidFill>
                  <a:schemeClr val="dk1"/>
                </a:solidFill>
              </a:rPr>
              <a:t>Anomaly Detection:</a:t>
            </a:r>
            <a:r>
              <a:rPr lang="en" sz="1000">
                <a:solidFill>
                  <a:schemeClr val="dk1"/>
                </a:solidFill>
              </a:rPr>
              <a:t> Autoencoder</a:t>
            </a:r>
            <a:endParaRPr sz="1000">
              <a:solidFill>
                <a:schemeClr val="dk1"/>
              </a:solidFill>
            </a:endParaRPr>
          </a:p>
          <a:p>
            <a:pPr indent="-292100" lvl="1" marL="914400" rtl="0" algn="l">
              <a:spcBef>
                <a:spcPts val="0"/>
              </a:spcBef>
              <a:spcAft>
                <a:spcPts val="0"/>
              </a:spcAft>
              <a:buClr>
                <a:schemeClr val="dk1"/>
              </a:buClr>
              <a:buSzPts val="1000"/>
              <a:buChar char="○"/>
            </a:pPr>
            <a:r>
              <a:rPr b="1" lang="en" sz="1000">
                <a:solidFill>
                  <a:schemeClr val="dk1"/>
                </a:solidFill>
              </a:rPr>
              <a:t>Supervised Classifier:</a:t>
            </a:r>
            <a:r>
              <a:rPr lang="en" sz="1000">
                <a:solidFill>
                  <a:schemeClr val="dk1"/>
                </a:solidFill>
              </a:rPr>
              <a:t> XGBoost</a:t>
            </a:r>
            <a:endParaRPr sz="1000">
              <a:solidFill>
                <a:schemeClr val="dk1"/>
              </a:solidFill>
            </a:endParaRPr>
          </a:p>
          <a:p>
            <a:pPr indent="-292100" lvl="0" marL="457200" rtl="0" algn="l">
              <a:spcBef>
                <a:spcPts val="0"/>
              </a:spcBef>
              <a:spcAft>
                <a:spcPts val="0"/>
              </a:spcAft>
              <a:buClr>
                <a:schemeClr val="dk1"/>
              </a:buClr>
              <a:buSzPts val="1000"/>
              <a:buChar char="●"/>
            </a:pPr>
            <a:r>
              <a:rPr b="1" lang="en" sz="1000">
                <a:solidFill>
                  <a:schemeClr val="dk1"/>
                </a:solidFill>
              </a:rPr>
              <a:t>Key Results:</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Accuracy: </a:t>
            </a:r>
            <a:r>
              <a:rPr b="1" lang="en" sz="1000">
                <a:solidFill>
                  <a:schemeClr val="dk1"/>
                </a:solidFill>
              </a:rPr>
              <a:t>96%</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Precision: </a:t>
            </a:r>
            <a:r>
              <a:rPr b="1" lang="en" sz="1000">
                <a:solidFill>
                  <a:schemeClr val="dk1"/>
                </a:solidFill>
              </a:rPr>
              <a:t>45%</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Recall: </a:t>
            </a:r>
            <a:r>
              <a:rPr b="1" lang="en" sz="1000">
                <a:solidFill>
                  <a:schemeClr val="dk1"/>
                </a:solidFill>
              </a:rPr>
              <a:t>71%</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F1 Score: </a:t>
            </a:r>
            <a:r>
              <a:rPr b="1" lang="en" sz="1000">
                <a:solidFill>
                  <a:schemeClr val="dk1"/>
                </a:solidFill>
              </a:rPr>
              <a:t>55%</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AUC-ROC: </a:t>
            </a:r>
            <a:r>
              <a:rPr b="1" lang="en" sz="1000">
                <a:solidFill>
                  <a:schemeClr val="dk1"/>
                </a:solidFill>
              </a:rPr>
              <a:t>94%</a:t>
            </a:r>
            <a:endParaRPr b="1" sz="1000">
              <a:solidFill>
                <a:schemeClr val="dk1"/>
              </a:solidFill>
            </a:endParaRPr>
          </a:p>
          <a:p>
            <a:pPr indent="-292100" lvl="0" marL="457200" rtl="0" algn="l">
              <a:spcBef>
                <a:spcPts val="0"/>
              </a:spcBef>
              <a:spcAft>
                <a:spcPts val="0"/>
              </a:spcAft>
              <a:buClr>
                <a:schemeClr val="dk1"/>
              </a:buClr>
              <a:buSzPts val="1000"/>
              <a:buChar char="●"/>
            </a:pPr>
            <a:r>
              <a:rPr b="1" lang="en" sz="1000">
                <a:solidFill>
                  <a:schemeClr val="dk1"/>
                </a:solidFill>
              </a:rPr>
              <a:t>Insights:</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High AUC-ROC demonstrates the model's robustness in distinguishing between fraudulent and non-fraudulent transactions.</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Moderate precision indicates some challenges in avoiding false positives.</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High recall highlights the model's effectiveness in identifying fraudulent transactions.</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Suitable for real-world scenarios where catching fraud is prioritized over avoiding false alarms.</a:t>
            </a:r>
            <a:endParaRPr sz="1000">
              <a:solidFill>
                <a:schemeClr val="dk1"/>
              </a:solidFill>
            </a:endParaRPr>
          </a:p>
          <a:p>
            <a:pPr indent="0" lvl="0" marL="0" rtl="0" algn="l">
              <a:spcBef>
                <a:spcPts val="1200"/>
              </a:spcBef>
              <a:spcAft>
                <a:spcPts val="0"/>
              </a:spcAft>
              <a:buClr>
                <a:schemeClr val="dk1"/>
              </a:buClr>
              <a:buSzPts val="1100"/>
              <a:buFont typeface="Arial"/>
              <a:buNone/>
            </a:pPr>
            <a:r>
              <a:rPr b="1" lang="en" sz="1000">
                <a:solidFill>
                  <a:schemeClr val="dk1"/>
                </a:solidFill>
              </a:rPr>
              <a:t>Visuals:</a:t>
            </a:r>
            <a:endParaRPr b="1" sz="1000">
              <a:solidFill>
                <a:schemeClr val="dk1"/>
              </a:solidFill>
            </a:endParaRPr>
          </a:p>
          <a:p>
            <a:pPr indent="-292100" lvl="0" marL="457200" rtl="0" algn="l">
              <a:spcBef>
                <a:spcPts val="1200"/>
              </a:spcBef>
              <a:spcAft>
                <a:spcPts val="0"/>
              </a:spcAft>
              <a:buClr>
                <a:schemeClr val="dk1"/>
              </a:buClr>
              <a:buSzPts val="1000"/>
              <a:buAutoNum type="arabicPeriod"/>
            </a:pPr>
            <a:r>
              <a:rPr b="1" lang="en" sz="1000">
                <a:solidFill>
                  <a:schemeClr val="dk1"/>
                </a:solidFill>
              </a:rPr>
              <a:t>Confusion Matrix:</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Non-Fraud: Correctly classified: </a:t>
            </a:r>
            <a:r>
              <a:rPr b="1" lang="en" sz="1000">
                <a:solidFill>
                  <a:schemeClr val="dk1"/>
                </a:solidFill>
              </a:rPr>
              <a:t>110,275</a:t>
            </a:r>
            <a:r>
              <a:rPr lang="en" sz="1000">
                <a:solidFill>
                  <a:schemeClr val="dk1"/>
                </a:solidFill>
              </a:rPr>
              <a:t>, Misclassified: </a:t>
            </a:r>
            <a:r>
              <a:rPr b="1" lang="en" sz="1000">
                <a:solidFill>
                  <a:schemeClr val="dk1"/>
                </a:solidFill>
              </a:rPr>
              <a:t>3,591</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Fraud: Correctly classified: </a:t>
            </a:r>
            <a:r>
              <a:rPr b="1" lang="en" sz="1000">
                <a:solidFill>
                  <a:schemeClr val="dk1"/>
                </a:solidFill>
              </a:rPr>
              <a:t>2,996</a:t>
            </a:r>
            <a:r>
              <a:rPr lang="en" sz="1000">
                <a:solidFill>
                  <a:schemeClr val="dk1"/>
                </a:solidFill>
              </a:rPr>
              <a:t>, Misclassified: </a:t>
            </a:r>
            <a:r>
              <a:rPr b="1" lang="en" sz="1000">
                <a:solidFill>
                  <a:schemeClr val="dk1"/>
                </a:solidFill>
              </a:rPr>
              <a:t>1,246</a:t>
            </a:r>
            <a:endParaRPr b="1" sz="1000">
              <a:solidFill>
                <a:schemeClr val="dk1"/>
              </a:solidFill>
            </a:endParaRPr>
          </a:p>
          <a:p>
            <a:pPr indent="-292100" lvl="0" marL="457200" rtl="0" algn="l">
              <a:spcBef>
                <a:spcPts val="0"/>
              </a:spcBef>
              <a:spcAft>
                <a:spcPts val="0"/>
              </a:spcAft>
              <a:buClr>
                <a:schemeClr val="dk1"/>
              </a:buClr>
              <a:buSzPts val="1000"/>
              <a:buAutoNum type="arabicPeriod"/>
            </a:pPr>
            <a:r>
              <a:rPr b="1" lang="en" sz="1000">
                <a:solidFill>
                  <a:schemeClr val="dk1"/>
                </a:solidFill>
              </a:rPr>
              <a:t>Performance Metrics Bar Chart:</a:t>
            </a:r>
            <a:r>
              <a:rPr lang="en" sz="1000">
                <a:solidFill>
                  <a:schemeClr val="dk1"/>
                </a:solidFill>
              </a:rPr>
              <a:t> </a:t>
            </a:r>
            <a:endParaRPr sz="1000"/>
          </a:p>
        </p:txBody>
      </p:sp>
      <p:pic>
        <p:nvPicPr>
          <p:cNvPr id="130" name="Google Shape;130;p24"/>
          <p:cNvPicPr preferRelativeResize="0"/>
          <p:nvPr/>
        </p:nvPicPr>
        <p:blipFill>
          <a:blip r:embed="rId3">
            <a:alphaModFix/>
          </a:blip>
          <a:stretch>
            <a:fillRect/>
          </a:stretch>
        </p:blipFill>
        <p:spPr>
          <a:xfrm>
            <a:off x="3907600" y="935925"/>
            <a:ext cx="4007575" cy="1717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6" name="Google Shape;136;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7" name="Google Shape;137;p25"/>
          <p:cNvPicPr preferRelativeResize="0"/>
          <p:nvPr/>
        </p:nvPicPr>
        <p:blipFill>
          <a:blip r:embed="rId3">
            <a:alphaModFix/>
          </a:blip>
          <a:stretch>
            <a:fillRect/>
          </a:stretch>
        </p:blipFill>
        <p:spPr>
          <a:xfrm>
            <a:off x="4757800" y="445025"/>
            <a:ext cx="4110850" cy="4123850"/>
          </a:xfrm>
          <a:prstGeom prst="rect">
            <a:avLst/>
          </a:prstGeom>
          <a:noFill/>
          <a:ln>
            <a:noFill/>
          </a:ln>
        </p:spPr>
      </p:pic>
      <p:pic>
        <p:nvPicPr>
          <p:cNvPr id="138" name="Google Shape;138;p25"/>
          <p:cNvPicPr preferRelativeResize="0"/>
          <p:nvPr/>
        </p:nvPicPr>
        <p:blipFill>
          <a:blip r:embed="rId4">
            <a:alphaModFix/>
          </a:blip>
          <a:stretch>
            <a:fillRect/>
          </a:stretch>
        </p:blipFill>
        <p:spPr>
          <a:xfrm>
            <a:off x="311700" y="390750"/>
            <a:ext cx="4409749" cy="427112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0" y="0"/>
            <a:ext cx="914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50"/>
              <a:t>Model 4 - Local Outlier Factor + Logistic Regression</a:t>
            </a:r>
            <a:endParaRPr b="1" sz="2850"/>
          </a:p>
        </p:txBody>
      </p:sp>
      <p:sp>
        <p:nvSpPr>
          <p:cNvPr id="144" name="Google Shape;144;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298450" lvl="0" marL="457200" rtl="0" algn="l">
              <a:spcBef>
                <a:spcPts val="1200"/>
              </a:spcBef>
              <a:spcAft>
                <a:spcPts val="0"/>
              </a:spcAft>
              <a:buClr>
                <a:schemeClr val="dk1"/>
              </a:buClr>
              <a:buSzPts val="1100"/>
              <a:buChar char="●"/>
            </a:pPr>
            <a:r>
              <a:rPr b="1" lang="en" sz="1100">
                <a:solidFill>
                  <a:schemeClr val="dk1"/>
                </a:solidFill>
              </a:rPr>
              <a:t>Overview:</a:t>
            </a:r>
            <a:endParaRPr b="1" sz="1100">
              <a:solidFill>
                <a:schemeClr val="dk1"/>
              </a:solidFill>
            </a:endParaRPr>
          </a:p>
          <a:p>
            <a:pPr indent="-298450" lvl="1" marL="914400" rtl="0" algn="l">
              <a:spcBef>
                <a:spcPts val="0"/>
              </a:spcBef>
              <a:spcAft>
                <a:spcPts val="0"/>
              </a:spcAft>
              <a:buClr>
                <a:schemeClr val="dk1"/>
              </a:buClr>
              <a:buSzPts val="1100"/>
              <a:buChar char="○"/>
            </a:pPr>
            <a:r>
              <a:rPr b="1" lang="en" sz="1100">
                <a:solidFill>
                  <a:schemeClr val="dk1"/>
                </a:solidFill>
              </a:rPr>
              <a:t>Anomaly Detection:</a:t>
            </a:r>
            <a:r>
              <a:rPr lang="en" sz="1100">
                <a:solidFill>
                  <a:schemeClr val="dk1"/>
                </a:solidFill>
              </a:rPr>
              <a:t> Local Outlier Factor (LOF)</a:t>
            </a:r>
            <a:endParaRPr sz="1100">
              <a:solidFill>
                <a:schemeClr val="dk1"/>
              </a:solidFill>
            </a:endParaRPr>
          </a:p>
          <a:p>
            <a:pPr indent="-298450" lvl="1" marL="914400" rtl="0" algn="l">
              <a:spcBef>
                <a:spcPts val="0"/>
              </a:spcBef>
              <a:spcAft>
                <a:spcPts val="0"/>
              </a:spcAft>
              <a:buClr>
                <a:schemeClr val="dk1"/>
              </a:buClr>
              <a:buSzPts val="1100"/>
              <a:buChar char="○"/>
            </a:pPr>
            <a:r>
              <a:rPr b="1" lang="en" sz="1100">
                <a:solidFill>
                  <a:schemeClr val="dk1"/>
                </a:solidFill>
              </a:rPr>
              <a:t>Supervised Classifier:</a:t>
            </a:r>
            <a:r>
              <a:rPr lang="en" sz="1100">
                <a:solidFill>
                  <a:schemeClr val="dk1"/>
                </a:solidFill>
              </a:rPr>
              <a:t> Logistic Regression (LR)</a:t>
            </a: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Key Results:</a:t>
            </a:r>
            <a:endParaRPr b="1"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Accuracy: </a:t>
            </a:r>
            <a:r>
              <a:rPr b="1" lang="en" sz="1100">
                <a:solidFill>
                  <a:schemeClr val="dk1"/>
                </a:solidFill>
              </a:rPr>
              <a:t>96%</a:t>
            </a:r>
            <a:endParaRPr b="1"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Precision: </a:t>
            </a:r>
            <a:r>
              <a:rPr b="1" lang="en" sz="1100">
                <a:solidFill>
                  <a:schemeClr val="dk1"/>
                </a:solidFill>
              </a:rPr>
              <a:t>68%</a:t>
            </a:r>
            <a:endParaRPr b="1"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Recall: </a:t>
            </a:r>
            <a:r>
              <a:rPr b="1" lang="en" sz="1100">
                <a:solidFill>
                  <a:schemeClr val="dk1"/>
                </a:solidFill>
              </a:rPr>
              <a:t>58%</a:t>
            </a:r>
            <a:endParaRPr b="1"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F1 Score: </a:t>
            </a:r>
            <a:r>
              <a:rPr b="1" lang="en" sz="1100">
                <a:solidFill>
                  <a:schemeClr val="dk1"/>
                </a:solidFill>
              </a:rPr>
              <a:t>63%</a:t>
            </a:r>
            <a:endParaRPr b="1"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AUC-ROC: </a:t>
            </a:r>
            <a:r>
              <a:rPr b="1" lang="en" sz="1100">
                <a:solidFill>
                  <a:schemeClr val="dk1"/>
                </a:solidFill>
              </a:rPr>
              <a:t>84%</a:t>
            </a:r>
            <a:endParaRPr b="1"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Insights:</a:t>
            </a:r>
            <a:endParaRPr b="1"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High accuracy and precision demonstrate the model's ability to correctly classify the majority of transactions.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Moderate recall and F1-score indicate room for improvement in identifying fraudulent transactions.</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The model balances precision and recall well, making it useful for scenarios where false positives need to be minimized.</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 sz="1100">
                <a:solidFill>
                  <a:schemeClr val="dk1"/>
                </a:solidFill>
              </a:rPr>
              <a:t>Visuals:</a:t>
            </a:r>
            <a:endParaRPr b="1" sz="1100">
              <a:solidFill>
                <a:schemeClr val="dk1"/>
              </a:solidFill>
            </a:endParaRPr>
          </a:p>
          <a:p>
            <a:pPr indent="-298450" lvl="0" marL="457200" rtl="0" algn="l">
              <a:spcBef>
                <a:spcPts val="1200"/>
              </a:spcBef>
              <a:spcAft>
                <a:spcPts val="0"/>
              </a:spcAft>
              <a:buClr>
                <a:schemeClr val="dk1"/>
              </a:buClr>
              <a:buSzPts val="1100"/>
              <a:buAutoNum type="arabicPeriod"/>
            </a:pPr>
            <a:r>
              <a:rPr b="1" lang="en" sz="1100">
                <a:solidFill>
                  <a:schemeClr val="dk1"/>
                </a:solidFill>
              </a:rPr>
              <a:t>Confusion Matrix:</a:t>
            </a:r>
            <a:r>
              <a:rPr lang="en" sz="1100">
                <a:solidFill>
                  <a:schemeClr val="dk1"/>
                </a:solidFill>
              </a:rPr>
              <a:t> </a:t>
            </a:r>
            <a:endParaRPr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Non-Fraud: Correctly classified: </a:t>
            </a:r>
            <a:r>
              <a:rPr b="1" lang="en" sz="1100">
                <a:solidFill>
                  <a:schemeClr val="dk1"/>
                </a:solidFill>
              </a:rPr>
              <a:t>105,000</a:t>
            </a:r>
            <a:r>
              <a:rPr lang="en" sz="1100">
                <a:solidFill>
                  <a:schemeClr val="dk1"/>
                </a:solidFill>
              </a:rPr>
              <a:t>, Misclassified: </a:t>
            </a:r>
            <a:r>
              <a:rPr b="1" lang="en" sz="1100">
                <a:solidFill>
                  <a:schemeClr val="dk1"/>
                </a:solidFill>
              </a:rPr>
              <a:t>3,500</a:t>
            </a:r>
            <a:endParaRPr b="1" sz="1100">
              <a:solidFill>
                <a:schemeClr val="dk1"/>
              </a:solidFill>
            </a:endParaRPr>
          </a:p>
          <a:p>
            <a:pPr indent="-298450" lvl="1" marL="914400" rtl="0" algn="l">
              <a:spcBef>
                <a:spcPts val="0"/>
              </a:spcBef>
              <a:spcAft>
                <a:spcPts val="0"/>
              </a:spcAft>
              <a:buClr>
                <a:schemeClr val="dk1"/>
              </a:buClr>
              <a:buSzPts val="1100"/>
              <a:buChar char="○"/>
            </a:pPr>
            <a:r>
              <a:rPr lang="en" sz="1100">
                <a:solidFill>
                  <a:schemeClr val="dk1"/>
                </a:solidFill>
              </a:rPr>
              <a:t>Fraud: Correctly classified: </a:t>
            </a:r>
            <a:r>
              <a:rPr b="1" lang="en" sz="1100">
                <a:solidFill>
                  <a:schemeClr val="dk1"/>
                </a:solidFill>
              </a:rPr>
              <a:t>2,700</a:t>
            </a:r>
            <a:r>
              <a:rPr lang="en" sz="1100">
                <a:solidFill>
                  <a:schemeClr val="dk1"/>
                </a:solidFill>
              </a:rPr>
              <a:t>, Misclassified: </a:t>
            </a:r>
            <a:r>
              <a:rPr b="1" lang="en" sz="1100">
                <a:solidFill>
                  <a:schemeClr val="dk1"/>
                </a:solidFill>
              </a:rPr>
              <a:t>1,800</a:t>
            </a:r>
            <a:endParaRPr b="1" sz="1100">
              <a:solidFill>
                <a:schemeClr val="dk1"/>
              </a:solidFill>
            </a:endParaRPr>
          </a:p>
          <a:p>
            <a:pPr indent="-298450" lvl="0" marL="457200" rtl="0" algn="l">
              <a:spcBef>
                <a:spcPts val="0"/>
              </a:spcBef>
              <a:spcAft>
                <a:spcPts val="0"/>
              </a:spcAft>
              <a:buClr>
                <a:schemeClr val="dk1"/>
              </a:buClr>
              <a:buSzPts val="1100"/>
              <a:buAutoNum type="arabicPeriod"/>
            </a:pPr>
            <a:r>
              <a:rPr b="1" lang="en" sz="1100">
                <a:solidFill>
                  <a:schemeClr val="dk1"/>
                </a:solidFill>
              </a:rPr>
              <a:t>Performance Metrics Bar Chart:</a:t>
            </a:r>
            <a:endParaRPr/>
          </a:p>
        </p:txBody>
      </p:sp>
      <p:pic>
        <p:nvPicPr>
          <p:cNvPr id="145" name="Google Shape;145;p26"/>
          <p:cNvPicPr preferRelativeResize="0"/>
          <p:nvPr/>
        </p:nvPicPr>
        <p:blipFill>
          <a:blip r:embed="rId3">
            <a:alphaModFix/>
          </a:blip>
          <a:stretch>
            <a:fillRect/>
          </a:stretch>
        </p:blipFill>
        <p:spPr>
          <a:xfrm>
            <a:off x="4572000" y="1017725"/>
            <a:ext cx="4213325" cy="1647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1" name="Google Shape;15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2" name="Google Shape;152;p27"/>
          <p:cNvPicPr preferRelativeResize="0"/>
          <p:nvPr/>
        </p:nvPicPr>
        <p:blipFill>
          <a:blip r:embed="rId3">
            <a:alphaModFix/>
          </a:blip>
          <a:stretch>
            <a:fillRect/>
          </a:stretch>
        </p:blipFill>
        <p:spPr>
          <a:xfrm>
            <a:off x="4572000" y="436175"/>
            <a:ext cx="4498851" cy="4398324"/>
          </a:xfrm>
          <a:prstGeom prst="rect">
            <a:avLst/>
          </a:prstGeom>
          <a:noFill/>
          <a:ln>
            <a:noFill/>
          </a:ln>
        </p:spPr>
      </p:pic>
      <p:pic>
        <p:nvPicPr>
          <p:cNvPr id="153" name="Google Shape;153;p27"/>
          <p:cNvPicPr preferRelativeResize="0"/>
          <p:nvPr/>
        </p:nvPicPr>
        <p:blipFill>
          <a:blip r:embed="rId4">
            <a:alphaModFix/>
          </a:blip>
          <a:stretch>
            <a:fillRect/>
          </a:stretch>
        </p:blipFill>
        <p:spPr>
          <a:xfrm>
            <a:off x="357150" y="436175"/>
            <a:ext cx="4169750" cy="427114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8"/>
          <p:cNvSpPr txBox="1"/>
          <p:nvPr>
            <p:ph type="title"/>
          </p:nvPr>
        </p:nvSpPr>
        <p:spPr>
          <a:xfrm>
            <a:off x="213425" y="0"/>
            <a:ext cx="8864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2850"/>
              <a:t>Model 5 - Support Vector Machine + Decision Tree</a:t>
            </a:r>
            <a:endParaRPr b="1" sz="2850"/>
          </a:p>
        </p:txBody>
      </p:sp>
      <p:sp>
        <p:nvSpPr>
          <p:cNvPr id="159" name="Google Shape;159;p28"/>
          <p:cNvSpPr txBox="1"/>
          <p:nvPr>
            <p:ph idx="1" type="body"/>
          </p:nvPr>
        </p:nvSpPr>
        <p:spPr>
          <a:xfrm>
            <a:off x="311700" y="6863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sz="1000">
                <a:solidFill>
                  <a:schemeClr val="dk1"/>
                </a:solidFill>
              </a:rPr>
              <a:t>Content:</a:t>
            </a:r>
            <a:endParaRPr b="1" sz="1000">
              <a:solidFill>
                <a:schemeClr val="dk1"/>
              </a:solidFill>
            </a:endParaRPr>
          </a:p>
          <a:p>
            <a:pPr indent="-292100" lvl="0" marL="457200" rtl="0" algn="l">
              <a:spcBef>
                <a:spcPts val="1200"/>
              </a:spcBef>
              <a:spcAft>
                <a:spcPts val="0"/>
              </a:spcAft>
              <a:buClr>
                <a:schemeClr val="dk1"/>
              </a:buClr>
              <a:buSzPts val="1000"/>
              <a:buChar char="●"/>
            </a:pPr>
            <a:r>
              <a:rPr b="1" lang="en" sz="1000">
                <a:solidFill>
                  <a:schemeClr val="dk1"/>
                </a:solidFill>
              </a:rPr>
              <a:t>Overview:</a:t>
            </a:r>
            <a:endParaRPr b="1" sz="1000">
              <a:solidFill>
                <a:schemeClr val="dk1"/>
              </a:solidFill>
            </a:endParaRPr>
          </a:p>
          <a:p>
            <a:pPr indent="-292100" lvl="1" marL="914400" rtl="0" algn="l">
              <a:spcBef>
                <a:spcPts val="0"/>
              </a:spcBef>
              <a:spcAft>
                <a:spcPts val="0"/>
              </a:spcAft>
              <a:buClr>
                <a:schemeClr val="dk1"/>
              </a:buClr>
              <a:buSzPts val="1000"/>
              <a:buChar char="○"/>
            </a:pPr>
            <a:r>
              <a:rPr b="1" lang="en" sz="1000">
                <a:solidFill>
                  <a:schemeClr val="dk1"/>
                </a:solidFill>
              </a:rPr>
              <a:t>Anomaly Detection:</a:t>
            </a:r>
            <a:r>
              <a:rPr lang="en" sz="1000">
                <a:solidFill>
                  <a:schemeClr val="dk1"/>
                </a:solidFill>
              </a:rPr>
              <a:t> Support Vector Machine (SVM)</a:t>
            </a:r>
            <a:endParaRPr sz="1000">
              <a:solidFill>
                <a:schemeClr val="dk1"/>
              </a:solidFill>
            </a:endParaRPr>
          </a:p>
          <a:p>
            <a:pPr indent="-292100" lvl="1" marL="914400" rtl="0" algn="l">
              <a:spcBef>
                <a:spcPts val="0"/>
              </a:spcBef>
              <a:spcAft>
                <a:spcPts val="0"/>
              </a:spcAft>
              <a:buClr>
                <a:schemeClr val="dk1"/>
              </a:buClr>
              <a:buSzPts val="1000"/>
              <a:buChar char="○"/>
            </a:pPr>
            <a:r>
              <a:rPr b="1" lang="en" sz="1000">
                <a:solidFill>
                  <a:schemeClr val="dk1"/>
                </a:solidFill>
              </a:rPr>
              <a:t>Supervised Classifier:</a:t>
            </a:r>
            <a:r>
              <a:rPr lang="en" sz="1000">
                <a:solidFill>
                  <a:schemeClr val="dk1"/>
                </a:solidFill>
              </a:rPr>
              <a:t> Decision Tree (DT)</a:t>
            </a:r>
            <a:endParaRPr sz="1000">
              <a:solidFill>
                <a:schemeClr val="dk1"/>
              </a:solidFill>
            </a:endParaRPr>
          </a:p>
          <a:p>
            <a:pPr indent="-292100" lvl="0" marL="457200" rtl="0" algn="l">
              <a:spcBef>
                <a:spcPts val="0"/>
              </a:spcBef>
              <a:spcAft>
                <a:spcPts val="0"/>
              </a:spcAft>
              <a:buClr>
                <a:schemeClr val="dk1"/>
              </a:buClr>
              <a:buSzPts val="1000"/>
              <a:buChar char="●"/>
            </a:pPr>
            <a:r>
              <a:rPr b="1" lang="en" sz="1000">
                <a:solidFill>
                  <a:schemeClr val="dk1"/>
                </a:solidFill>
              </a:rPr>
              <a:t>Key Results:</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Accuracy: </a:t>
            </a:r>
            <a:r>
              <a:rPr b="1" lang="en" sz="1000">
                <a:solidFill>
                  <a:schemeClr val="dk1"/>
                </a:solidFill>
              </a:rPr>
              <a:t>94%</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Precision: </a:t>
            </a:r>
            <a:r>
              <a:rPr b="1" lang="en" sz="1000">
                <a:solidFill>
                  <a:schemeClr val="dk1"/>
                </a:solidFill>
              </a:rPr>
              <a:t>62%</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Recall: </a:t>
            </a:r>
            <a:r>
              <a:rPr b="1" lang="en" sz="1000">
                <a:solidFill>
                  <a:schemeClr val="dk1"/>
                </a:solidFill>
              </a:rPr>
              <a:t>55%</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F1 Score: </a:t>
            </a:r>
            <a:r>
              <a:rPr b="1" lang="en" sz="1000">
                <a:solidFill>
                  <a:schemeClr val="dk1"/>
                </a:solidFill>
              </a:rPr>
              <a:t>58%</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AUC-ROC: </a:t>
            </a:r>
            <a:r>
              <a:rPr b="1" lang="en" sz="1000">
                <a:solidFill>
                  <a:schemeClr val="dk1"/>
                </a:solidFill>
              </a:rPr>
              <a:t>82%</a:t>
            </a:r>
            <a:endParaRPr b="1" sz="1000">
              <a:solidFill>
                <a:schemeClr val="dk1"/>
              </a:solidFill>
            </a:endParaRPr>
          </a:p>
          <a:p>
            <a:pPr indent="-292100" lvl="0" marL="457200" rtl="0" algn="l">
              <a:spcBef>
                <a:spcPts val="0"/>
              </a:spcBef>
              <a:spcAft>
                <a:spcPts val="0"/>
              </a:spcAft>
              <a:buClr>
                <a:schemeClr val="dk1"/>
              </a:buClr>
              <a:buSzPts val="1000"/>
              <a:buChar char="●"/>
            </a:pPr>
            <a:r>
              <a:rPr b="1" lang="en" sz="1000">
                <a:solidFill>
                  <a:schemeClr val="dk1"/>
                </a:solidFill>
              </a:rPr>
              <a:t>Insights:</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Strong accuracy and precision show the model’s ability to classify the majority of transactions correctly.</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Moderate recall and F1-score reflect challenges in identifying fraudulent cases comprehensively.</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A good AUC-ROC indicates reliable differentiation between fraud and non-fraud transactions.</a:t>
            </a:r>
            <a:endParaRPr sz="1000">
              <a:solidFill>
                <a:schemeClr val="dk1"/>
              </a:solidFill>
            </a:endParaRPr>
          </a:p>
          <a:p>
            <a:pPr indent="0" lvl="0" marL="0" rtl="0" algn="l">
              <a:spcBef>
                <a:spcPts val="1200"/>
              </a:spcBef>
              <a:spcAft>
                <a:spcPts val="0"/>
              </a:spcAft>
              <a:buClr>
                <a:schemeClr val="dk1"/>
              </a:buClr>
              <a:buSzPts val="1100"/>
              <a:buFont typeface="Arial"/>
              <a:buNone/>
            </a:pPr>
            <a:r>
              <a:rPr b="1" lang="en" sz="1000">
                <a:solidFill>
                  <a:schemeClr val="dk1"/>
                </a:solidFill>
              </a:rPr>
              <a:t>Visuals:</a:t>
            </a:r>
            <a:endParaRPr b="1" sz="1000">
              <a:solidFill>
                <a:schemeClr val="dk1"/>
              </a:solidFill>
            </a:endParaRPr>
          </a:p>
          <a:p>
            <a:pPr indent="-292100" lvl="0" marL="457200" rtl="0" algn="l">
              <a:spcBef>
                <a:spcPts val="1200"/>
              </a:spcBef>
              <a:spcAft>
                <a:spcPts val="0"/>
              </a:spcAft>
              <a:buClr>
                <a:schemeClr val="dk1"/>
              </a:buClr>
              <a:buSzPts val="1000"/>
              <a:buAutoNum type="arabicPeriod"/>
            </a:pPr>
            <a:r>
              <a:rPr b="1" lang="en" sz="1000">
                <a:solidFill>
                  <a:schemeClr val="dk1"/>
                </a:solidFill>
              </a:rPr>
              <a:t>Confusion Matrix:</a:t>
            </a:r>
            <a:r>
              <a:rPr lang="en" sz="1000">
                <a:solidFill>
                  <a:schemeClr val="dk1"/>
                </a:solidFill>
              </a:rPr>
              <a:t> </a:t>
            </a:r>
            <a:endParaRPr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Non-Fraud: Correctly classified: </a:t>
            </a:r>
            <a:r>
              <a:rPr b="1" lang="en" sz="1000">
                <a:solidFill>
                  <a:schemeClr val="dk1"/>
                </a:solidFill>
              </a:rPr>
              <a:t>104,000</a:t>
            </a:r>
            <a:r>
              <a:rPr lang="en" sz="1000">
                <a:solidFill>
                  <a:schemeClr val="dk1"/>
                </a:solidFill>
              </a:rPr>
              <a:t>, Misclassified: </a:t>
            </a:r>
            <a:r>
              <a:rPr b="1" lang="en" sz="1000">
                <a:solidFill>
                  <a:schemeClr val="dk1"/>
                </a:solidFill>
              </a:rPr>
              <a:t>4,000</a:t>
            </a:r>
            <a:endParaRPr b="1" sz="10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Fraud: Correctly classified: </a:t>
            </a:r>
            <a:r>
              <a:rPr b="1" lang="en" sz="1000">
                <a:solidFill>
                  <a:schemeClr val="dk1"/>
                </a:solidFill>
              </a:rPr>
              <a:t>2,500</a:t>
            </a:r>
            <a:r>
              <a:rPr lang="en" sz="1000">
                <a:solidFill>
                  <a:schemeClr val="dk1"/>
                </a:solidFill>
              </a:rPr>
              <a:t>, Misclassified: </a:t>
            </a:r>
            <a:r>
              <a:rPr b="1" lang="en" sz="1000">
                <a:solidFill>
                  <a:schemeClr val="dk1"/>
                </a:solidFill>
              </a:rPr>
              <a:t>2,000</a:t>
            </a:r>
            <a:endParaRPr b="1" sz="1000">
              <a:solidFill>
                <a:schemeClr val="dk1"/>
              </a:solidFill>
            </a:endParaRPr>
          </a:p>
          <a:p>
            <a:pPr indent="-292100" lvl="0" marL="457200" rtl="0" algn="l">
              <a:spcBef>
                <a:spcPts val="0"/>
              </a:spcBef>
              <a:spcAft>
                <a:spcPts val="0"/>
              </a:spcAft>
              <a:buClr>
                <a:schemeClr val="dk1"/>
              </a:buClr>
              <a:buSzPts val="1000"/>
              <a:buAutoNum type="arabicPeriod"/>
            </a:pPr>
            <a:r>
              <a:rPr b="1" lang="en" sz="1000">
                <a:solidFill>
                  <a:schemeClr val="dk1"/>
                </a:solidFill>
              </a:rPr>
              <a:t>Performance Metrics Bar Chart:</a:t>
            </a:r>
            <a:r>
              <a:rPr lang="en" sz="1000">
                <a:solidFill>
                  <a:schemeClr val="dk1"/>
                </a:solidFill>
              </a:rPr>
              <a:t> </a:t>
            </a:r>
            <a:endParaRPr sz="1000"/>
          </a:p>
        </p:txBody>
      </p:sp>
      <p:pic>
        <p:nvPicPr>
          <p:cNvPr id="160" name="Google Shape;160;p28"/>
          <p:cNvPicPr preferRelativeResize="0"/>
          <p:nvPr/>
        </p:nvPicPr>
        <p:blipFill>
          <a:blip r:embed="rId3">
            <a:alphaModFix/>
          </a:blip>
          <a:stretch>
            <a:fillRect/>
          </a:stretch>
        </p:blipFill>
        <p:spPr>
          <a:xfrm>
            <a:off x="4380088" y="1279700"/>
            <a:ext cx="4200525" cy="1828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6" name="Google Shape;166;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7" name="Google Shape;167;p29"/>
          <p:cNvPicPr preferRelativeResize="0"/>
          <p:nvPr/>
        </p:nvPicPr>
        <p:blipFill>
          <a:blip r:embed="rId3">
            <a:alphaModFix/>
          </a:blip>
          <a:stretch>
            <a:fillRect/>
          </a:stretch>
        </p:blipFill>
        <p:spPr>
          <a:xfrm>
            <a:off x="4495625" y="354425"/>
            <a:ext cx="4436625" cy="4568876"/>
          </a:xfrm>
          <a:prstGeom prst="rect">
            <a:avLst/>
          </a:prstGeom>
          <a:noFill/>
          <a:ln>
            <a:noFill/>
          </a:ln>
        </p:spPr>
      </p:pic>
      <p:pic>
        <p:nvPicPr>
          <p:cNvPr id="168" name="Google Shape;168;p29"/>
          <p:cNvPicPr preferRelativeResize="0"/>
          <p:nvPr/>
        </p:nvPicPr>
        <p:blipFill>
          <a:blip r:embed="rId4">
            <a:alphaModFix/>
          </a:blip>
          <a:stretch>
            <a:fillRect/>
          </a:stretch>
        </p:blipFill>
        <p:spPr>
          <a:xfrm>
            <a:off x="80275" y="354425"/>
            <a:ext cx="4545251" cy="44710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900">
                <a:solidFill>
                  <a:srgbClr val="2D3B45"/>
                </a:solidFill>
              </a:rPr>
              <a:t>Results</a:t>
            </a:r>
            <a:endParaRPr b="1" sz="2900"/>
          </a:p>
        </p:txBody>
      </p:sp>
      <p:sp>
        <p:nvSpPr>
          <p:cNvPr id="174" name="Google Shape;174;p30"/>
          <p:cNvSpPr txBox="1"/>
          <p:nvPr>
            <p:ph idx="1" type="body"/>
          </p:nvPr>
        </p:nvSpPr>
        <p:spPr>
          <a:xfrm>
            <a:off x="311700" y="9070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000000"/>
                </a:solidFill>
              </a:rPr>
              <a:t>The hybrid approach combining anomaly detection and supervised classification was evaluated using five model configurations. Each model was tested on a highly imbalanced dataset, with performance assessed using accuracy, precision, recall, F1-score, and AUC-ROC. Below is a summary of the results:</a:t>
            </a:r>
            <a:endParaRPr sz="1400">
              <a:solidFill>
                <a:srgbClr val="000000"/>
              </a:solidFill>
            </a:endParaRPr>
          </a:p>
          <a:p>
            <a:pPr indent="0" lvl="0" marL="0" rtl="0" algn="l">
              <a:spcBef>
                <a:spcPts val="1200"/>
              </a:spcBef>
              <a:spcAft>
                <a:spcPts val="1200"/>
              </a:spcAft>
              <a:buNone/>
            </a:pPr>
            <a:r>
              <a:t/>
            </a:r>
            <a:endParaRPr sz="1400">
              <a:solidFill>
                <a:srgbClr val="000000"/>
              </a:solidFill>
            </a:endParaRPr>
          </a:p>
        </p:txBody>
      </p:sp>
      <p:pic>
        <p:nvPicPr>
          <p:cNvPr id="175" name="Google Shape;175;p30"/>
          <p:cNvPicPr preferRelativeResize="0"/>
          <p:nvPr/>
        </p:nvPicPr>
        <p:blipFill>
          <a:blip r:embed="rId3">
            <a:alphaModFix/>
          </a:blip>
          <a:stretch>
            <a:fillRect/>
          </a:stretch>
        </p:blipFill>
        <p:spPr>
          <a:xfrm>
            <a:off x="1281175" y="1792750"/>
            <a:ext cx="6581675" cy="3252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1"/>
          <p:cNvSpPr txBox="1"/>
          <p:nvPr>
            <p:ph type="title"/>
          </p:nvPr>
        </p:nvSpPr>
        <p:spPr>
          <a:xfrm>
            <a:off x="311700" y="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900">
                <a:solidFill>
                  <a:srgbClr val="2D3B45"/>
                </a:solidFill>
                <a:highlight>
                  <a:srgbClr val="FFFFFF"/>
                </a:highlight>
              </a:rPr>
              <a:t>Conclusion </a:t>
            </a:r>
            <a:endParaRPr b="1" sz="4700"/>
          </a:p>
        </p:txBody>
      </p:sp>
      <p:sp>
        <p:nvSpPr>
          <p:cNvPr id="181" name="Google Shape;181;p31"/>
          <p:cNvSpPr txBox="1"/>
          <p:nvPr>
            <p:ph idx="1" type="body"/>
          </p:nvPr>
        </p:nvSpPr>
        <p:spPr>
          <a:xfrm>
            <a:off x="311700" y="735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1018"/>
              <a:buFont typeface="Arial"/>
              <a:buNone/>
            </a:pPr>
            <a:r>
              <a:t/>
            </a:r>
            <a:endParaRPr b="1" sz="1250">
              <a:solidFill>
                <a:schemeClr val="dk1"/>
              </a:solidFill>
            </a:endParaRPr>
          </a:p>
          <a:p>
            <a:pPr indent="-307975" lvl="0" marL="457200" rtl="0" algn="l">
              <a:lnSpc>
                <a:spcPct val="95000"/>
              </a:lnSpc>
              <a:spcBef>
                <a:spcPts val="1200"/>
              </a:spcBef>
              <a:spcAft>
                <a:spcPts val="0"/>
              </a:spcAft>
              <a:buClr>
                <a:schemeClr val="dk1"/>
              </a:buClr>
              <a:buSzPts val="1250"/>
              <a:buAutoNum type="arabicPeriod"/>
            </a:pPr>
            <a:r>
              <a:rPr b="1" lang="en" sz="1250">
                <a:solidFill>
                  <a:schemeClr val="dk1"/>
                </a:solidFill>
              </a:rPr>
              <a:t>Effectiveness of the Hybrid Approach</a:t>
            </a:r>
            <a:r>
              <a:rPr lang="en" sz="1250">
                <a:solidFill>
                  <a:schemeClr val="dk1"/>
                </a:solidFill>
              </a:rPr>
              <a:t>:</a:t>
            </a:r>
            <a:endParaRPr sz="1250">
              <a:solidFill>
                <a:schemeClr val="dk1"/>
              </a:solidFill>
            </a:endParaRPr>
          </a:p>
          <a:p>
            <a:pPr indent="-307975" lvl="1" marL="914400" rtl="0" algn="l">
              <a:lnSpc>
                <a:spcPct val="95000"/>
              </a:lnSpc>
              <a:spcBef>
                <a:spcPts val="0"/>
              </a:spcBef>
              <a:spcAft>
                <a:spcPts val="0"/>
              </a:spcAft>
              <a:buClr>
                <a:schemeClr val="dk1"/>
              </a:buClr>
              <a:buSzPts val="1250"/>
              <a:buChar char="○"/>
            </a:pPr>
            <a:r>
              <a:rPr lang="en" sz="1250">
                <a:solidFill>
                  <a:schemeClr val="dk1"/>
                </a:solidFill>
              </a:rPr>
              <a:t>The hybrid method combining </a:t>
            </a:r>
            <a:r>
              <a:rPr b="1" lang="en" sz="1250">
                <a:solidFill>
                  <a:schemeClr val="dk1"/>
                </a:solidFill>
              </a:rPr>
              <a:t>anomaly detection</a:t>
            </a:r>
            <a:r>
              <a:rPr lang="en" sz="1250">
                <a:solidFill>
                  <a:schemeClr val="dk1"/>
                </a:solidFill>
              </a:rPr>
              <a:t> and </a:t>
            </a:r>
            <a:r>
              <a:rPr b="1" lang="en" sz="1250">
                <a:solidFill>
                  <a:schemeClr val="dk1"/>
                </a:solidFill>
              </a:rPr>
              <a:t>supervised classification</a:t>
            </a:r>
            <a:r>
              <a:rPr lang="en" sz="1250">
                <a:solidFill>
                  <a:schemeClr val="dk1"/>
                </a:solidFill>
              </a:rPr>
              <a:t> proved effective in addressing the challenges of fraud detection in highly imbalanced datasets.</a:t>
            </a:r>
            <a:endParaRPr sz="1250">
              <a:solidFill>
                <a:schemeClr val="dk1"/>
              </a:solidFill>
            </a:endParaRPr>
          </a:p>
          <a:p>
            <a:pPr indent="-307975" lvl="1" marL="914400" rtl="0" algn="l">
              <a:lnSpc>
                <a:spcPct val="95000"/>
              </a:lnSpc>
              <a:spcBef>
                <a:spcPts val="0"/>
              </a:spcBef>
              <a:spcAft>
                <a:spcPts val="0"/>
              </a:spcAft>
              <a:buClr>
                <a:schemeClr val="dk1"/>
              </a:buClr>
              <a:buSzPts val="1250"/>
              <a:buChar char="○"/>
            </a:pPr>
            <a:r>
              <a:rPr lang="en" sz="1250">
                <a:solidFill>
                  <a:schemeClr val="dk1"/>
                </a:solidFill>
              </a:rPr>
              <a:t>Models like </a:t>
            </a:r>
            <a:r>
              <a:rPr b="1" lang="en" sz="1250">
                <a:solidFill>
                  <a:schemeClr val="dk1"/>
                </a:solidFill>
              </a:rPr>
              <a:t>Autoencoder + XGBoost</a:t>
            </a:r>
            <a:r>
              <a:rPr lang="en" sz="1250">
                <a:solidFill>
                  <a:schemeClr val="dk1"/>
                </a:solidFill>
              </a:rPr>
              <a:t> demonstrated the highest performance, achieving a recall of 71% and an AUC-ROC of 94%, confirming the hypothesis that hybrid methods can enhance fraud detection capabilities.</a:t>
            </a:r>
            <a:endParaRPr sz="1250">
              <a:solidFill>
                <a:schemeClr val="dk1"/>
              </a:solidFill>
            </a:endParaRPr>
          </a:p>
          <a:p>
            <a:pPr indent="-307975" lvl="0" marL="457200" rtl="0" algn="l">
              <a:lnSpc>
                <a:spcPct val="95000"/>
              </a:lnSpc>
              <a:spcBef>
                <a:spcPts val="0"/>
              </a:spcBef>
              <a:spcAft>
                <a:spcPts val="0"/>
              </a:spcAft>
              <a:buClr>
                <a:schemeClr val="dk1"/>
              </a:buClr>
              <a:buSzPts val="1250"/>
              <a:buAutoNum type="arabicPeriod"/>
            </a:pPr>
            <a:r>
              <a:rPr b="1" lang="en" sz="1250">
                <a:solidFill>
                  <a:schemeClr val="dk1"/>
                </a:solidFill>
              </a:rPr>
              <a:t>Trade-offs in Model Performance</a:t>
            </a:r>
            <a:r>
              <a:rPr lang="en" sz="1250">
                <a:solidFill>
                  <a:schemeClr val="dk1"/>
                </a:solidFill>
              </a:rPr>
              <a:t>:</a:t>
            </a:r>
            <a:endParaRPr sz="1250">
              <a:solidFill>
                <a:schemeClr val="dk1"/>
              </a:solidFill>
            </a:endParaRPr>
          </a:p>
          <a:p>
            <a:pPr indent="-307975" lvl="1" marL="914400" rtl="0" algn="l">
              <a:lnSpc>
                <a:spcPct val="95000"/>
              </a:lnSpc>
              <a:spcBef>
                <a:spcPts val="0"/>
              </a:spcBef>
              <a:spcAft>
                <a:spcPts val="0"/>
              </a:spcAft>
              <a:buClr>
                <a:schemeClr val="dk1"/>
              </a:buClr>
              <a:buSzPts val="1250"/>
              <a:buChar char="○"/>
            </a:pPr>
            <a:r>
              <a:rPr lang="en" sz="1250">
                <a:solidFill>
                  <a:schemeClr val="dk1"/>
                </a:solidFill>
              </a:rPr>
              <a:t>Models like </a:t>
            </a:r>
            <a:r>
              <a:rPr b="1" lang="en" sz="1250">
                <a:solidFill>
                  <a:schemeClr val="dk1"/>
                </a:solidFill>
              </a:rPr>
              <a:t>Isolation Forest + Random Forest</a:t>
            </a:r>
            <a:r>
              <a:rPr lang="en" sz="1250">
                <a:solidFill>
                  <a:schemeClr val="dk1"/>
                </a:solidFill>
              </a:rPr>
              <a:t> offered high precision (90%) but at the expense of recall (32%), making them suitable for scenarios where minimizing false positives is crucial.</a:t>
            </a:r>
            <a:endParaRPr sz="1250">
              <a:solidFill>
                <a:schemeClr val="dk1"/>
              </a:solidFill>
            </a:endParaRPr>
          </a:p>
          <a:p>
            <a:pPr indent="-307975" lvl="1" marL="914400" rtl="0" algn="l">
              <a:lnSpc>
                <a:spcPct val="95000"/>
              </a:lnSpc>
              <a:spcBef>
                <a:spcPts val="0"/>
              </a:spcBef>
              <a:spcAft>
                <a:spcPts val="0"/>
              </a:spcAft>
              <a:buClr>
                <a:schemeClr val="dk1"/>
              </a:buClr>
              <a:buSzPts val="1250"/>
              <a:buChar char="○"/>
            </a:pPr>
            <a:r>
              <a:rPr lang="en" sz="1250">
                <a:solidFill>
                  <a:schemeClr val="dk1"/>
                </a:solidFill>
              </a:rPr>
              <a:t>On the other hand, </a:t>
            </a:r>
            <a:r>
              <a:rPr b="1" lang="en" sz="1250">
                <a:solidFill>
                  <a:schemeClr val="dk1"/>
                </a:solidFill>
              </a:rPr>
              <a:t>Autoencoder + XGBoost</a:t>
            </a:r>
            <a:r>
              <a:rPr lang="en" sz="1250">
                <a:solidFill>
                  <a:schemeClr val="dk1"/>
                </a:solidFill>
              </a:rPr>
              <a:t> prioritized recall, ensuring that a larger proportion of fraudulent transactions were detected, making it ideal for fraud-heavy use cases.</a:t>
            </a:r>
            <a:endParaRPr sz="1250">
              <a:solidFill>
                <a:schemeClr val="dk1"/>
              </a:solidFill>
            </a:endParaRPr>
          </a:p>
          <a:p>
            <a:pPr indent="-307975" lvl="0" marL="457200" rtl="0" algn="l">
              <a:lnSpc>
                <a:spcPct val="95000"/>
              </a:lnSpc>
              <a:spcBef>
                <a:spcPts val="0"/>
              </a:spcBef>
              <a:spcAft>
                <a:spcPts val="0"/>
              </a:spcAft>
              <a:buClr>
                <a:schemeClr val="dk1"/>
              </a:buClr>
              <a:buSzPts val="1250"/>
              <a:buAutoNum type="arabicPeriod"/>
            </a:pPr>
            <a:r>
              <a:rPr b="1" lang="en" sz="1250">
                <a:solidFill>
                  <a:schemeClr val="dk1"/>
                </a:solidFill>
              </a:rPr>
              <a:t>Interpretability vs. Performance</a:t>
            </a:r>
            <a:r>
              <a:rPr lang="en" sz="1250">
                <a:solidFill>
                  <a:schemeClr val="dk1"/>
                </a:solidFill>
              </a:rPr>
              <a:t>:</a:t>
            </a:r>
            <a:endParaRPr sz="1250">
              <a:solidFill>
                <a:schemeClr val="dk1"/>
              </a:solidFill>
            </a:endParaRPr>
          </a:p>
          <a:p>
            <a:pPr indent="-307975" lvl="1" marL="914400" rtl="0" algn="l">
              <a:lnSpc>
                <a:spcPct val="95000"/>
              </a:lnSpc>
              <a:spcBef>
                <a:spcPts val="0"/>
              </a:spcBef>
              <a:spcAft>
                <a:spcPts val="0"/>
              </a:spcAft>
              <a:buClr>
                <a:schemeClr val="dk1"/>
              </a:buClr>
              <a:buSzPts val="1250"/>
              <a:buChar char="○"/>
            </a:pPr>
            <a:r>
              <a:rPr lang="en" sz="1250">
                <a:solidFill>
                  <a:schemeClr val="dk1"/>
                </a:solidFill>
              </a:rPr>
              <a:t>Simpler models like </a:t>
            </a:r>
            <a:r>
              <a:rPr b="1" lang="en" sz="1250">
                <a:solidFill>
                  <a:schemeClr val="dk1"/>
                </a:solidFill>
              </a:rPr>
              <a:t>LOF + Logistic Regression</a:t>
            </a:r>
            <a:r>
              <a:rPr lang="en" sz="1250">
                <a:solidFill>
                  <a:schemeClr val="dk1"/>
                </a:solidFill>
              </a:rPr>
              <a:t> provided balanced metrics (F1-score: 63%, AUC-ROC: 84%) while maintaining interpretability, making them more practical for real-world deployment.</a:t>
            </a:r>
            <a:endParaRPr sz="1250">
              <a:solidFill>
                <a:schemeClr val="dk1"/>
              </a:solidFill>
            </a:endParaRPr>
          </a:p>
          <a:p>
            <a:pPr indent="-307975" lvl="0" marL="457200" rtl="0" algn="l">
              <a:lnSpc>
                <a:spcPct val="95000"/>
              </a:lnSpc>
              <a:spcBef>
                <a:spcPts val="0"/>
              </a:spcBef>
              <a:spcAft>
                <a:spcPts val="0"/>
              </a:spcAft>
              <a:buClr>
                <a:schemeClr val="dk1"/>
              </a:buClr>
              <a:buSzPts val="1250"/>
              <a:buAutoNum type="arabicPeriod"/>
            </a:pPr>
            <a:r>
              <a:rPr b="1" lang="en" sz="1250">
                <a:solidFill>
                  <a:schemeClr val="dk1"/>
                </a:solidFill>
              </a:rPr>
              <a:t>Key Challenges</a:t>
            </a:r>
            <a:r>
              <a:rPr lang="en" sz="1250">
                <a:solidFill>
                  <a:schemeClr val="dk1"/>
                </a:solidFill>
              </a:rPr>
              <a:t>:</a:t>
            </a:r>
            <a:endParaRPr sz="1250">
              <a:solidFill>
                <a:schemeClr val="dk1"/>
              </a:solidFill>
            </a:endParaRPr>
          </a:p>
          <a:p>
            <a:pPr indent="-307975" lvl="1" marL="914400" rtl="0" algn="l">
              <a:lnSpc>
                <a:spcPct val="95000"/>
              </a:lnSpc>
              <a:spcBef>
                <a:spcPts val="0"/>
              </a:spcBef>
              <a:spcAft>
                <a:spcPts val="0"/>
              </a:spcAft>
              <a:buClr>
                <a:schemeClr val="dk1"/>
              </a:buClr>
              <a:buSzPts val="1250"/>
              <a:buChar char="○"/>
            </a:pPr>
            <a:r>
              <a:rPr lang="en" sz="1250">
                <a:solidFill>
                  <a:schemeClr val="dk1"/>
                </a:solidFill>
              </a:rPr>
              <a:t>Handling class imbalance effectively remains a significant challenge, as evidenced by the varying recall rates across models.</a:t>
            </a:r>
            <a:endParaRPr sz="1250">
              <a:solidFill>
                <a:schemeClr val="dk1"/>
              </a:solidFill>
            </a:endParaRPr>
          </a:p>
          <a:p>
            <a:pPr indent="-307975" lvl="1" marL="914400" rtl="0" algn="l">
              <a:lnSpc>
                <a:spcPct val="95000"/>
              </a:lnSpc>
              <a:spcBef>
                <a:spcPts val="0"/>
              </a:spcBef>
              <a:spcAft>
                <a:spcPts val="0"/>
              </a:spcAft>
              <a:buClr>
                <a:schemeClr val="dk1"/>
              </a:buClr>
              <a:buSzPts val="1250"/>
              <a:buChar char="○"/>
            </a:pPr>
            <a:r>
              <a:rPr lang="en" sz="1250">
                <a:solidFill>
                  <a:schemeClr val="dk1"/>
                </a:solidFill>
              </a:rPr>
              <a:t>While anomaly detection improved precision, it sometimes struggled with identifying all fraudulent cases, as seen in </a:t>
            </a:r>
            <a:r>
              <a:rPr b="1" lang="en" sz="1250">
                <a:solidFill>
                  <a:schemeClr val="dk1"/>
                </a:solidFill>
              </a:rPr>
              <a:t>Isolation Forest + Naive Bayes</a:t>
            </a:r>
            <a:r>
              <a:rPr lang="en" sz="1250">
                <a:solidFill>
                  <a:schemeClr val="dk1"/>
                </a:solidFill>
              </a:rPr>
              <a:t>.</a:t>
            </a:r>
            <a:endParaRPr sz="1250">
              <a:solidFill>
                <a:schemeClr val="dk1"/>
              </a:solidFill>
            </a:endParaRPr>
          </a:p>
          <a:p>
            <a:pPr indent="0" lvl="0" marL="0" rtl="0" algn="l">
              <a:lnSpc>
                <a:spcPct val="95000"/>
              </a:lnSpc>
              <a:spcBef>
                <a:spcPts val="1200"/>
              </a:spcBef>
              <a:spcAft>
                <a:spcPts val="1200"/>
              </a:spcAft>
              <a:buSzPts val="1018"/>
              <a:buNone/>
            </a:pPr>
            <a:r>
              <a:t/>
            </a:r>
            <a:endParaRPr b="1" sz="1250">
              <a:solidFill>
                <a:srgbClr val="2D3B45"/>
              </a:solidFill>
              <a:highlight>
                <a:srgbClr val="FFFFFF"/>
              </a:highlight>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2"/>
          <p:cNvSpPr txBox="1"/>
          <p:nvPr>
            <p:ph idx="1" type="body"/>
          </p:nvPr>
        </p:nvSpPr>
        <p:spPr>
          <a:xfrm>
            <a:off x="311700" y="586925"/>
            <a:ext cx="8520600" cy="41481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t/>
            </a:r>
            <a:endParaRPr b="1" sz="1100">
              <a:solidFill>
                <a:schemeClr val="dk1"/>
              </a:solidFill>
            </a:endParaRPr>
          </a:p>
          <a:p>
            <a:pPr indent="-307975" lvl="0" marL="457200" rtl="0" algn="l">
              <a:spcBef>
                <a:spcPts val="1200"/>
              </a:spcBef>
              <a:spcAft>
                <a:spcPts val="0"/>
              </a:spcAft>
              <a:buClr>
                <a:schemeClr val="dk1"/>
              </a:buClr>
              <a:buSzPts val="1250"/>
              <a:buAutoNum type="arabicPeriod"/>
            </a:pPr>
            <a:r>
              <a:rPr b="1" lang="en" sz="1250">
                <a:solidFill>
                  <a:schemeClr val="dk1"/>
                </a:solidFill>
              </a:rPr>
              <a:t>Ensemble Hybrid Models</a:t>
            </a:r>
            <a:r>
              <a:rPr lang="en" sz="1250">
                <a:solidFill>
                  <a:schemeClr val="dk1"/>
                </a:solidFill>
              </a:rPr>
              <a:t>:</a:t>
            </a:r>
            <a:br>
              <a:rPr lang="en" sz="1250">
                <a:solidFill>
                  <a:schemeClr val="dk1"/>
                </a:solidFill>
              </a:rPr>
            </a:br>
            <a:r>
              <a:rPr lang="en" sz="1250">
                <a:solidFill>
                  <a:schemeClr val="dk1"/>
                </a:solidFill>
              </a:rPr>
              <a:t>Combine multiple hybrid configurations, such as </a:t>
            </a:r>
            <a:r>
              <a:rPr b="1" lang="en" sz="1250">
                <a:solidFill>
                  <a:schemeClr val="dk1"/>
                </a:solidFill>
              </a:rPr>
              <a:t>Autoencoder + XGBoost</a:t>
            </a:r>
            <a:r>
              <a:rPr lang="en" sz="1250">
                <a:solidFill>
                  <a:schemeClr val="dk1"/>
                </a:solidFill>
              </a:rPr>
              <a:t> and </a:t>
            </a:r>
            <a:r>
              <a:rPr b="1" lang="en" sz="1250">
                <a:solidFill>
                  <a:schemeClr val="dk1"/>
                </a:solidFill>
              </a:rPr>
              <a:t>LOF + Logistic Regression</a:t>
            </a:r>
            <a:r>
              <a:rPr lang="en" sz="1250">
                <a:solidFill>
                  <a:schemeClr val="dk1"/>
                </a:solidFill>
              </a:rPr>
              <a:t>, to leverage their respective strengths, creating a model that achieves both high recall and interpretability.</a:t>
            </a:r>
            <a:endParaRPr sz="1250">
              <a:solidFill>
                <a:schemeClr val="dk1"/>
              </a:solidFill>
            </a:endParaRPr>
          </a:p>
          <a:p>
            <a:pPr indent="-307975" lvl="0" marL="457200" rtl="0" algn="l">
              <a:spcBef>
                <a:spcPts val="0"/>
              </a:spcBef>
              <a:spcAft>
                <a:spcPts val="0"/>
              </a:spcAft>
              <a:buClr>
                <a:schemeClr val="dk1"/>
              </a:buClr>
              <a:buSzPts val="1250"/>
              <a:buAutoNum type="arabicPeriod"/>
            </a:pPr>
            <a:r>
              <a:rPr b="1" lang="en" sz="1250">
                <a:solidFill>
                  <a:schemeClr val="dk1"/>
                </a:solidFill>
              </a:rPr>
              <a:t>Real-Time Optimization</a:t>
            </a:r>
            <a:r>
              <a:rPr lang="en" sz="1250">
                <a:solidFill>
                  <a:schemeClr val="dk1"/>
                </a:solidFill>
              </a:rPr>
              <a:t>:</a:t>
            </a:r>
            <a:br>
              <a:rPr lang="en" sz="1250">
                <a:solidFill>
                  <a:schemeClr val="dk1"/>
                </a:solidFill>
              </a:rPr>
            </a:br>
            <a:r>
              <a:rPr lang="en" sz="1250">
                <a:solidFill>
                  <a:schemeClr val="dk1"/>
                </a:solidFill>
              </a:rPr>
              <a:t>Focus on optimizing the models for </a:t>
            </a:r>
            <a:r>
              <a:rPr b="1" lang="en" sz="1250">
                <a:solidFill>
                  <a:schemeClr val="dk1"/>
                </a:solidFill>
              </a:rPr>
              <a:t>real-time fraud detection</a:t>
            </a:r>
            <a:r>
              <a:rPr lang="en" sz="1250">
                <a:solidFill>
                  <a:schemeClr val="dk1"/>
                </a:solidFill>
              </a:rPr>
              <a:t> by reducing computational overhead and improving processing speeds, enabling immediate identification of fraudulent transactions in production environments.</a:t>
            </a:r>
            <a:endParaRPr sz="1250">
              <a:solidFill>
                <a:schemeClr val="dk1"/>
              </a:solidFill>
            </a:endParaRPr>
          </a:p>
          <a:p>
            <a:pPr indent="0" lvl="0" marL="0" rtl="0" algn="l">
              <a:spcBef>
                <a:spcPts val="1200"/>
              </a:spcBef>
              <a:spcAft>
                <a:spcPts val="0"/>
              </a:spcAft>
              <a:buNone/>
            </a:pPr>
            <a:r>
              <a:t/>
            </a:r>
            <a:endParaRPr b="1" sz="1250">
              <a:solidFill>
                <a:schemeClr val="dk1"/>
              </a:solidFill>
            </a:endParaRPr>
          </a:p>
          <a:p>
            <a:pPr indent="0" lvl="0" marL="0" rtl="0" algn="l">
              <a:spcBef>
                <a:spcPts val="1200"/>
              </a:spcBef>
              <a:spcAft>
                <a:spcPts val="0"/>
              </a:spcAft>
              <a:buNone/>
            </a:pPr>
            <a:r>
              <a:rPr b="1" lang="en" sz="1250">
                <a:solidFill>
                  <a:schemeClr val="dk1"/>
                </a:solidFill>
              </a:rPr>
              <a:t>This project highlights the value of hybrid approaches in fraud detection, balancing precision, recall, and interpretability. By addressing current limitations through advanced techniques and dynamic learning, future work can further enhance the scalability and robustness of fraud detection systems.</a:t>
            </a:r>
            <a:endParaRPr b="1" sz="1250">
              <a:solidFill>
                <a:schemeClr val="dk1"/>
              </a:solidFill>
            </a:endParaRPr>
          </a:p>
          <a:p>
            <a:pPr indent="0" lvl="0" marL="0" rtl="0" algn="l">
              <a:spcBef>
                <a:spcPts val="1200"/>
              </a:spcBef>
              <a:spcAft>
                <a:spcPts val="1200"/>
              </a:spcAft>
              <a:buNone/>
            </a:pPr>
            <a:r>
              <a:t/>
            </a:r>
            <a:endParaRPr b="1" sz="1100">
              <a:solidFill>
                <a:schemeClr val="dk1"/>
              </a:solidFill>
            </a:endParaRPr>
          </a:p>
        </p:txBody>
      </p:sp>
      <p:sp>
        <p:nvSpPr>
          <p:cNvPr id="187" name="Google Shape;187;p32"/>
          <p:cNvSpPr txBox="1"/>
          <p:nvPr/>
        </p:nvSpPr>
        <p:spPr>
          <a:xfrm>
            <a:off x="0" y="0"/>
            <a:ext cx="91440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900">
                <a:solidFill>
                  <a:srgbClr val="2D3B45"/>
                </a:solidFill>
                <a:highlight>
                  <a:schemeClr val="lt1"/>
                </a:highlight>
              </a:rPr>
              <a:t>Future Work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